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61CA4C-414D-410E-A02C-4491DDEBC8BA}">
  <a:tblStyle styleId="{D161CA4C-414D-410E-A02C-4491DDEBC8B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908" autoAdjust="0"/>
  </p:normalViewPr>
  <p:slideViewPr>
    <p:cSldViewPr snapToGrid="0">
      <p:cViewPr varScale="1">
        <p:scale>
          <a:sx n="111" d="100"/>
          <a:sy n="111" d="100"/>
        </p:scale>
        <p:origin x="161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a2e27a30b7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a2e27a30b7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Alphabetize the names</a:t>
            </a:r>
            <a:endParaRPr/>
          </a:p>
          <a:p>
            <a:pPr marL="0" lvl="0" indent="0" algn="l" rtl="0">
              <a:spcBef>
                <a:spcPts val="0"/>
              </a:spcBef>
              <a:spcAft>
                <a:spcPts val="0"/>
              </a:spcAft>
              <a:buNone/>
            </a:pPr>
            <a:r>
              <a:rPr lang="en" b="1"/>
              <a:t>NM</a:t>
            </a:r>
            <a:endParaRPr b="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a2e27a30b7_2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a2e27a30b7_2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 - maybe add TTC Operations, Planning, and Data Teams: build predictive models and use the insights to optimize streetcar schedules?</a:t>
            </a:r>
            <a:endParaRPr dirty="0"/>
          </a:p>
          <a:p>
            <a:pPr marL="0" lvl="0" indent="0" algn="l" rtl="0">
              <a:spcBef>
                <a:spcPts val="0"/>
              </a:spcBef>
              <a:spcAft>
                <a:spcPts val="0"/>
              </a:spcAft>
              <a:buNone/>
            </a:pPr>
            <a:r>
              <a:rPr lang="en" b="1" dirty="0"/>
              <a:t>NM</a:t>
            </a:r>
            <a:endParaRPr b="1" dirty="0"/>
          </a:p>
          <a:p>
            <a:pPr marL="457200" lvl="0" indent="-330200" algn="l" rtl="0">
              <a:spcBef>
                <a:spcPts val="0"/>
              </a:spcBef>
              <a:spcAft>
                <a:spcPts val="0"/>
              </a:spcAft>
              <a:buClr>
                <a:schemeClr val="dk1"/>
              </a:buClr>
              <a:buSzPts val="1600"/>
              <a:buChar char="●"/>
            </a:pPr>
            <a:r>
              <a:rPr lang="en" sz="1600" dirty="0">
                <a:solidFill>
                  <a:schemeClr val="dk1"/>
                </a:solidFill>
              </a:rPr>
              <a:t>Stakeholders include:</a:t>
            </a:r>
            <a:endParaRPr sz="1600" dirty="0">
              <a:solidFill>
                <a:schemeClr val="dk1"/>
              </a:solidFill>
            </a:endParaRPr>
          </a:p>
          <a:p>
            <a:pPr marL="914400" lvl="1" indent="-330200" algn="l" rtl="0">
              <a:spcBef>
                <a:spcPts val="0"/>
              </a:spcBef>
              <a:spcAft>
                <a:spcPts val="0"/>
              </a:spcAft>
              <a:buClr>
                <a:schemeClr val="dk1"/>
              </a:buClr>
              <a:buSzPts val="1600"/>
              <a:buChar char="○"/>
            </a:pPr>
            <a:r>
              <a:rPr lang="en" sz="1600" dirty="0">
                <a:solidFill>
                  <a:schemeClr val="dk1"/>
                </a:solidFill>
              </a:rPr>
              <a:t>Business Strategy &amp; Insights Team: Leverage results to inform new route planning or  network design</a:t>
            </a:r>
            <a:endParaRPr sz="1600" dirty="0">
              <a:solidFill>
                <a:schemeClr val="dk1"/>
              </a:solidFill>
            </a:endParaRPr>
          </a:p>
          <a:p>
            <a:pPr marL="914400" lvl="1" indent="-330200" algn="l" rtl="0">
              <a:spcBef>
                <a:spcPts val="0"/>
              </a:spcBef>
              <a:spcAft>
                <a:spcPts val="0"/>
              </a:spcAft>
              <a:buClr>
                <a:schemeClr val="dk1"/>
              </a:buClr>
              <a:buSzPts val="1600"/>
              <a:buChar char="○"/>
            </a:pPr>
            <a:r>
              <a:rPr lang="en" sz="1600" dirty="0">
                <a:solidFill>
                  <a:schemeClr val="dk1"/>
                </a:solidFill>
              </a:rPr>
              <a:t>TTC Operations, Planning, and Data Teams: Use insights to optimize streetcar schedules.</a:t>
            </a:r>
            <a:endParaRPr sz="1600" dirty="0">
              <a:solidFill>
                <a:schemeClr val="dk1"/>
              </a:solidFill>
            </a:endParaRPr>
          </a:p>
          <a:p>
            <a:pPr marL="914400" lvl="1" indent="-330200" algn="l" rtl="0">
              <a:spcBef>
                <a:spcPts val="0"/>
              </a:spcBef>
              <a:spcAft>
                <a:spcPts val="0"/>
              </a:spcAft>
              <a:buClr>
                <a:schemeClr val="dk1"/>
              </a:buClr>
              <a:buSzPts val="1600"/>
              <a:buChar char="○"/>
            </a:pPr>
            <a:r>
              <a:rPr lang="en" sz="1600" dirty="0">
                <a:solidFill>
                  <a:schemeClr val="dk1"/>
                </a:solidFill>
              </a:rPr>
              <a:t>TTC Communications Team: Communicate accurate delay information</a:t>
            </a:r>
            <a:endParaRPr sz="1600" dirty="0">
              <a:solidFill>
                <a:schemeClr val="dk1"/>
              </a:solidFill>
            </a:endParaRPr>
          </a:p>
          <a:p>
            <a:pPr marL="914400" lvl="1" indent="-330200" algn="l" rtl="0">
              <a:spcBef>
                <a:spcPts val="0"/>
              </a:spcBef>
              <a:spcAft>
                <a:spcPts val="0"/>
              </a:spcAft>
              <a:buClr>
                <a:schemeClr val="dk1"/>
              </a:buClr>
              <a:buSzPts val="1600"/>
              <a:buChar char="○"/>
            </a:pPr>
            <a:r>
              <a:rPr lang="en" sz="1600" dirty="0">
                <a:solidFill>
                  <a:schemeClr val="dk1"/>
                </a:solidFill>
              </a:rPr>
              <a:t>TTC HR: Apply findings to staffing and hiring decisions.</a:t>
            </a:r>
            <a:endParaRPr sz="1600" dirty="0">
              <a:solidFill>
                <a:schemeClr val="dk1"/>
              </a:solidFill>
            </a:endParaRPr>
          </a:p>
          <a:p>
            <a:pPr marL="914400" lvl="1" indent="-330200" algn="l" rtl="0">
              <a:spcBef>
                <a:spcPts val="0"/>
              </a:spcBef>
              <a:spcAft>
                <a:spcPts val="0"/>
              </a:spcAft>
              <a:buClr>
                <a:schemeClr val="dk1"/>
              </a:buClr>
              <a:buSzPts val="1600"/>
              <a:buChar char="○"/>
            </a:pPr>
            <a:r>
              <a:rPr lang="en" sz="1600" dirty="0">
                <a:solidFill>
                  <a:schemeClr val="dk1"/>
                </a:solidFill>
              </a:rPr>
              <a:t>TTC Users: Plan their commutes based on knowledge of likely delays.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a2e27a30b7_2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a2e27a30b7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Can also show R^2 values here…..</a:t>
            </a:r>
            <a:endParaRPr/>
          </a:p>
          <a:p>
            <a:pPr marL="0" lvl="0" indent="0" algn="l" rtl="0">
              <a:spcBef>
                <a:spcPts val="0"/>
              </a:spcBef>
              <a:spcAft>
                <a:spcPts val="0"/>
              </a:spcAft>
              <a:buNone/>
            </a:pPr>
            <a:r>
              <a:rPr lang="en" b="1"/>
              <a:t>CR and NM</a:t>
            </a:r>
            <a:endParaRPr b="1"/>
          </a:p>
          <a:p>
            <a:pPr marL="0" lvl="0" indent="0" algn="l" rtl="0">
              <a:spcBef>
                <a:spcPts val="0"/>
              </a:spcBef>
              <a:spcAft>
                <a:spcPts val="0"/>
              </a:spcAft>
              <a:buNone/>
            </a:pPr>
            <a:endParaRPr b="1"/>
          </a:p>
          <a:p>
            <a:pPr marL="457200" lvl="0" indent="-298450" algn="l" rtl="0">
              <a:spcBef>
                <a:spcPts val="0"/>
              </a:spcBef>
              <a:spcAft>
                <a:spcPts val="0"/>
              </a:spcAft>
              <a:buClr>
                <a:schemeClr val="dk1"/>
              </a:buClr>
              <a:buSzPts val="1100"/>
              <a:buChar char="●"/>
            </a:pPr>
            <a:r>
              <a:rPr lang="en">
                <a:solidFill>
                  <a:schemeClr val="dk1"/>
                </a:solidFill>
              </a:rPr>
              <a:t>Average minute delayed showed very skewed data because of some outliers - most delays were between 0 and 15 minutes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Mean is 16 minutes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Important consideration for analysis</a:t>
            </a:r>
            <a:endParaRPr b="1"/>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9998cb305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9998cb305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a2e27a30b7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a2e27a30b7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CR</a:t>
            </a:r>
            <a:endParaRPr b="1"/>
          </a:p>
          <a:p>
            <a:pPr marL="0" lvl="0" indent="0" algn="l" rtl="0">
              <a:spcBef>
                <a:spcPts val="0"/>
              </a:spcBef>
              <a:spcAft>
                <a:spcPts val="0"/>
              </a:spcAft>
              <a:buNone/>
            </a:pPr>
            <a:r>
              <a:rPr lang="en"/>
              <a:t>Action for Semiha: include all the streetcar lines -  I don’t see 501 or 504. Change legend to horizontal.</a:t>
            </a:r>
            <a:endParaRPr/>
          </a:p>
          <a:p>
            <a:pPr marL="0" lvl="0" indent="0" algn="l" rtl="0">
              <a:spcBef>
                <a:spcPts val="0"/>
              </a:spcBef>
              <a:spcAft>
                <a:spcPts val="0"/>
              </a:spcAft>
              <a:buNone/>
            </a:pPr>
            <a:endParaRPr/>
          </a:p>
          <a:p>
            <a:pPr marL="0" lvl="0" indent="0" algn="l" rtl="0">
              <a:spcBef>
                <a:spcPts val="0"/>
              </a:spcBef>
              <a:spcAft>
                <a:spcPts val="0"/>
              </a:spcAft>
              <a:buNone/>
            </a:pPr>
            <a:r>
              <a:rPr lang="en" b="1"/>
              <a:t>Decision: use this visual</a:t>
            </a:r>
            <a:endParaRPr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2e27a30b7_2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2e27a30b7_2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NM</a:t>
            </a:r>
            <a:endParaRPr b="1"/>
          </a:p>
          <a:p>
            <a:pPr marL="457200" lvl="0" indent="-304800" algn="l" rtl="0">
              <a:spcBef>
                <a:spcPts val="0"/>
              </a:spcBef>
              <a:spcAft>
                <a:spcPts val="0"/>
              </a:spcAft>
              <a:buClr>
                <a:schemeClr val="dk1"/>
              </a:buClr>
              <a:buSzPts val="1200"/>
              <a:buChar char="●"/>
            </a:pPr>
            <a:r>
              <a:rPr lang="en" sz="1200">
                <a:solidFill>
                  <a:schemeClr val="dk1"/>
                </a:solidFill>
              </a:rPr>
              <a:t>Majority of issues were minor or moderate (between 1 to 25 min)</a:t>
            </a:r>
            <a:endParaRPr sz="1200">
              <a:solidFill>
                <a:schemeClr val="dk1"/>
              </a:solidFill>
            </a:endParaRPr>
          </a:p>
          <a:p>
            <a:pPr marL="914400" lvl="1" indent="-304800" algn="l" rtl="0">
              <a:spcBef>
                <a:spcPts val="0"/>
              </a:spcBef>
              <a:spcAft>
                <a:spcPts val="0"/>
              </a:spcAft>
              <a:buClr>
                <a:schemeClr val="dk1"/>
              </a:buClr>
              <a:buSzPts val="1200"/>
              <a:buChar char="○"/>
            </a:pPr>
            <a:r>
              <a:rPr lang="en" sz="1200">
                <a:solidFill>
                  <a:schemeClr val="dk1"/>
                </a:solidFill>
              </a:rPr>
              <a:t>Diversions likely to cause long delays (&gt; 25 min)</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Operations issues cause the most incidents</a:t>
            </a:r>
            <a:endParaRPr sz="1200">
              <a:solidFill>
                <a:schemeClr val="dk1"/>
              </a:solidFill>
            </a:endParaRPr>
          </a:p>
          <a:p>
            <a:pPr marL="914400" lvl="1" indent="-304800" algn="l" rtl="0">
              <a:spcBef>
                <a:spcPts val="0"/>
              </a:spcBef>
              <a:spcAft>
                <a:spcPts val="0"/>
              </a:spcAft>
              <a:buClr>
                <a:schemeClr val="dk1"/>
              </a:buClr>
              <a:buSzPts val="1200"/>
              <a:buChar char="○"/>
            </a:pPr>
            <a:r>
              <a:rPr lang="en" sz="1200">
                <a:solidFill>
                  <a:schemeClr val="dk1"/>
                </a:solidFill>
              </a:rPr>
              <a:t>The 3 highest frequency of incidents are in categories that are largely within the TTC’s control (operations, mechanical &amp; diversions)</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a34b17d125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a34b17d125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dk1"/>
                </a:solidFill>
              </a:rPr>
              <a:t>Regression - CR</a:t>
            </a:r>
            <a:endParaRPr b="1" dirty="0">
              <a:solidFill>
                <a:schemeClr val="dk1"/>
              </a:solidFill>
            </a:endParaRPr>
          </a:p>
          <a:p>
            <a:pPr marL="0" lvl="0" indent="0" algn="l" rtl="0">
              <a:spcBef>
                <a:spcPts val="0"/>
              </a:spcBef>
              <a:spcAft>
                <a:spcPts val="0"/>
              </a:spcAft>
              <a:buClr>
                <a:schemeClr val="dk1"/>
              </a:buClr>
              <a:buSzPts val="1100"/>
              <a:buFont typeface="Arial"/>
              <a:buNone/>
            </a:pPr>
            <a:r>
              <a:rPr lang="en" b="1" dirty="0">
                <a:solidFill>
                  <a:schemeClr val="dk1"/>
                </a:solidFill>
              </a:rPr>
              <a:t>Classification - NM</a:t>
            </a:r>
            <a:endParaRPr b="1" dirty="0">
              <a:solidFill>
                <a:schemeClr val="dk1"/>
              </a:solidFill>
            </a:endParaRPr>
          </a:p>
          <a:p>
            <a:pPr marL="0" lvl="0" indent="0" algn="l" rtl="0">
              <a:spcBef>
                <a:spcPts val="0"/>
              </a:spcBef>
              <a:spcAft>
                <a:spcPts val="0"/>
              </a:spcAft>
              <a:buClr>
                <a:schemeClr val="dk1"/>
              </a:buClr>
              <a:buSzPts val="1100"/>
              <a:buFont typeface="Arial"/>
              <a:buNone/>
            </a:pPr>
            <a:endParaRPr b="1"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Random forest classification: </a:t>
            </a:r>
            <a:r>
              <a:rPr lang="en" sz="1050" dirty="0">
                <a:solidFill>
                  <a:schemeClr val="dk1"/>
                </a:solidFill>
              </a:rPr>
              <a:t> good at handling noisy and mixed-type data with many independent variables</a:t>
            </a:r>
            <a:endParaRPr sz="1050" dirty="0">
              <a:solidFill>
                <a:schemeClr val="dk1"/>
              </a:solidFill>
            </a:endParaRPr>
          </a:p>
          <a:p>
            <a:pPr marL="457200" lvl="0" indent="-295275" algn="l" rtl="0">
              <a:spcBef>
                <a:spcPts val="0"/>
              </a:spcBef>
              <a:spcAft>
                <a:spcPts val="0"/>
              </a:spcAft>
              <a:buClr>
                <a:schemeClr val="dk1"/>
              </a:buClr>
              <a:buSzPts val="1050"/>
              <a:buChar char="●"/>
            </a:pPr>
            <a:r>
              <a:rPr lang="en" sz="1050" dirty="0">
                <a:solidFill>
                  <a:schemeClr val="dk1"/>
                </a:solidFill>
              </a:rPr>
              <a:t>Merged weather data - find out temp &amp; precipitation would be good classifiers</a:t>
            </a:r>
            <a:endParaRPr sz="1050" dirty="0">
              <a:solidFill>
                <a:schemeClr val="dk1"/>
              </a:solidFill>
            </a:endParaRPr>
          </a:p>
          <a:p>
            <a:pPr marL="457200" lvl="0" indent="-295275" algn="l" rtl="0">
              <a:spcBef>
                <a:spcPts val="0"/>
              </a:spcBef>
              <a:spcAft>
                <a:spcPts val="0"/>
              </a:spcAft>
              <a:buClr>
                <a:schemeClr val="dk1"/>
              </a:buClr>
              <a:buSzPts val="1050"/>
              <a:buChar char="●"/>
            </a:pPr>
            <a:r>
              <a:rPr lang="en" sz="1050" dirty="0">
                <a:solidFill>
                  <a:schemeClr val="dk1"/>
                </a:solidFill>
              </a:rPr>
              <a:t>Removed minute delay and location outliers</a:t>
            </a:r>
            <a:endParaRPr sz="1050" dirty="0">
              <a:solidFill>
                <a:schemeClr val="dk1"/>
              </a:solidFill>
            </a:endParaRPr>
          </a:p>
          <a:p>
            <a:pPr marL="457200" lvl="0" indent="-295275" algn="l" rtl="0">
              <a:spcBef>
                <a:spcPts val="0"/>
              </a:spcBef>
              <a:spcAft>
                <a:spcPts val="0"/>
              </a:spcAft>
              <a:buClr>
                <a:schemeClr val="dk1"/>
              </a:buClr>
              <a:buSzPts val="1050"/>
              <a:buChar char="●"/>
            </a:pPr>
            <a:r>
              <a:rPr lang="en" sz="1050" dirty="0">
                <a:solidFill>
                  <a:schemeClr val="dk1"/>
                </a:solidFill>
              </a:rPr>
              <a:t>Key features:</a:t>
            </a:r>
            <a:endParaRPr sz="1050" dirty="0">
              <a:solidFill>
                <a:schemeClr val="dk1"/>
              </a:solidFill>
            </a:endParaRPr>
          </a:p>
          <a:p>
            <a:pPr marL="914400" lvl="1" indent="-295275" algn="l" rtl="0">
              <a:spcBef>
                <a:spcPts val="0"/>
              </a:spcBef>
              <a:spcAft>
                <a:spcPts val="0"/>
              </a:spcAft>
              <a:buClr>
                <a:schemeClr val="dk1"/>
              </a:buClr>
              <a:buSzPts val="1050"/>
              <a:buChar char="○"/>
            </a:pPr>
            <a:r>
              <a:rPr lang="en" sz="1050" dirty="0">
                <a:solidFill>
                  <a:schemeClr val="dk1"/>
                </a:solidFill>
              </a:rPr>
              <a:t>Hour</a:t>
            </a:r>
            <a:endParaRPr sz="1050" dirty="0">
              <a:solidFill>
                <a:schemeClr val="dk1"/>
              </a:solidFill>
            </a:endParaRPr>
          </a:p>
          <a:p>
            <a:pPr marL="914400" lvl="1" indent="-295275" algn="l" rtl="0">
              <a:spcBef>
                <a:spcPts val="0"/>
              </a:spcBef>
              <a:spcAft>
                <a:spcPts val="0"/>
              </a:spcAft>
              <a:buClr>
                <a:schemeClr val="dk1"/>
              </a:buClr>
              <a:buSzPts val="1050"/>
              <a:buChar char="○"/>
            </a:pPr>
            <a:r>
              <a:rPr lang="en" sz="1050" dirty="0">
                <a:solidFill>
                  <a:schemeClr val="dk1"/>
                </a:solidFill>
              </a:rPr>
              <a:t>Temperature</a:t>
            </a:r>
            <a:endParaRPr sz="1050" dirty="0">
              <a:solidFill>
                <a:schemeClr val="dk1"/>
              </a:solidFill>
            </a:endParaRPr>
          </a:p>
          <a:p>
            <a:pPr marL="914400" lvl="1" indent="-295275" algn="l" rtl="0">
              <a:spcBef>
                <a:spcPts val="0"/>
              </a:spcBef>
              <a:spcAft>
                <a:spcPts val="0"/>
              </a:spcAft>
              <a:buClr>
                <a:schemeClr val="dk1"/>
              </a:buClr>
              <a:buSzPts val="1050"/>
              <a:buChar char="○"/>
            </a:pPr>
            <a:r>
              <a:rPr lang="en" sz="1050" dirty="0">
                <a:solidFill>
                  <a:schemeClr val="dk1"/>
                </a:solidFill>
              </a:rPr>
              <a:t>Subsets of date columns</a:t>
            </a:r>
            <a:endParaRPr sz="1050" dirty="0">
              <a:solidFill>
                <a:schemeClr val="dk1"/>
              </a:solidFill>
            </a:endParaRPr>
          </a:p>
          <a:p>
            <a:pPr marL="457200" lvl="0" indent="-295275" algn="l" rtl="0">
              <a:spcBef>
                <a:spcPts val="0"/>
              </a:spcBef>
              <a:spcAft>
                <a:spcPts val="0"/>
              </a:spcAft>
              <a:buClr>
                <a:schemeClr val="dk1"/>
              </a:buClr>
              <a:buSzPts val="1050"/>
              <a:buChar char="●"/>
            </a:pPr>
            <a:r>
              <a:rPr lang="en" sz="1050" dirty="0">
                <a:solidFill>
                  <a:schemeClr val="dk1"/>
                </a:solidFill>
              </a:rPr>
              <a:t>Overall model accuracy - not bad - better at classifying moderate delays (larger subset of the data) than minor delays</a:t>
            </a:r>
            <a:endParaRPr sz="1050" dirty="0">
              <a:solidFill>
                <a:schemeClr val="dk1"/>
              </a:solidFill>
            </a:endParaRPr>
          </a:p>
          <a:p>
            <a:pPr marL="457200" lvl="0" indent="-295275" algn="l" rtl="0">
              <a:spcBef>
                <a:spcPts val="0"/>
              </a:spcBef>
              <a:spcAft>
                <a:spcPts val="0"/>
              </a:spcAft>
              <a:buClr>
                <a:schemeClr val="dk1"/>
              </a:buClr>
              <a:buSzPts val="1050"/>
              <a:buChar char="●"/>
            </a:pPr>
            <a:r>
              <a:rPr lang="en" sz="1050" dirty="0">
                <a:solidFill>
                  <a:schemeClr val="dk1"/>
                </a:solidFill>
              </a:rPr>
              <a:t>Look at incident types separately - features may be different</a:t>
            </a:r>
            <a:endParaRPr sz="1050" dirty="0">
              <a:solidFill>
                <a:schemeClr val="dk1"/>
              </a:solidFill>
            </a:endParaRPr>
          </a:p>
          <a:p>
            <a:pPr marL="0" lvl="0" indent="0" algn="l" rtl="0">
              <a:spcBef>
                <a:spcPts val="0"/>
              </a:spcBef>
              <a:spcAft>
                <a:spcPts val="0"/>
              </a:spcAft>
              <a:buNone/>
            </a:pPr>
            <a:endParaRPr sz="1050" dirty="0">
              <a:solidFill>
                <a:schemeClr val="dk1"/>
              </a:solidFill>
            </a:endParaRPr>
          </a:p>
          <a:p>
            <a:pPr marL="0" lvl="0" indent="0" algn="l" rtl="0">
              <a:spcBef>
                <a:spcPts val="0"/>
              </a:spcBef>
              <a:spcAft>
                <a:spcPts val="0"/>
              </a:spcAft>
              <a:buNone/>
            </a:pPr>
            <a:r>
              <a:rPr lang="en" sz="1050" dirty="0">
                <a:solidFill>
                  <a:schemeClr val="dk1"/>
                </a:solidFill>
              </a:rPr>
              <a:t>Earlier, I mentioned that we shied away from using regression models to predict delay times.  Here’s why!  We got good R2 values when we included “min gap” as a predictor, but this feature depends on “min delay” and should not be used.  When we rely on other features as predictors, our R2 values plummet.  We decided not to pursue regression with this dataset.</a:t>
            </a:r>
            <a:endParaRPr sz="1050" dirty="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a2e27a30b7_2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a2e27a30b7_2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CR</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345664ec8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a345664ec8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39725" y="315800"/>
            <a:ext cx="5165100" cy="713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sz="2800" b="1"/>
              <a:t>Analyzing TTC Streetcar </a:t>
            </a:r>
            <a:endParaRPr sz="2800" b="1"/>
          </a:p>
          <a:p>
            <a:pPr marL="0" lvl="0" indent="0" algn="ctr" rtl="0">
              <a:spcBef>
                <a:spcPts val="0"/>
              </a:spcBef>
              <a:spcAft>
                <a:spcPts val="0"/>
              </a:spcAft>
              <a:buNone/>
            </a:pPr>
            <a:r>
              <a:rPr lang="en" sz="2800" b="1"/>
              <a:t>Delays in 2024</a:t>
            </a:r>
            <a:endParaRPr sz="2800" b="1"/>
          </a:p>
        </p:txBody>
      </p:sp>
      <p:sp>
        <p:nvSpPr>
          <p:cNvPr id="55" name="Google Shape;55;p13"/>
          <p:cNvSpPr txBox="1">
            <a:spLocks noGrp="1"/>
          </p:cNvSpPr>
          <p:nvPr>
            <p:ph type="subTitle" idx="1"/>
          </p:nvPr>
        </p:nvSpPr>
        <p:spPr>
          <a:xfrm>
            <a:off x="373851" y="1912250"/>
            <a:ext cx="4294200" cy="24564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r>
              <a:rPr lang="en" sz="4350">
                <a:solidFill>
                  <a:srgbClr val="000000"/>
                </a:solidFill>
              </a:rPr>
              <a:t>Team DS6</a:t>
            </a:r>
            <a:endParaRPr sz="4350">
              <a:solidFill>
                <a:srgbClr val="000000"/>
              </a:solidFill>
            </a:endParaRPr>
          </a:p>
          <a:p>
            <a:pPr marL="0" lvl="0" indent="0" algn="l" rtl="0">
              <a:spcBef>
                <a:spcPts val="0"/>
              </a:spcBef>
              <a:spcAft>
                <a:spcPts val="0"/>
              </a:spcAft>
              <a:buNone/>
            </a:pPr>
            <a:endParaRPr>
              <a:solidFill>
                <a:srgbClr val="000000"/>
              </a:solidFill>
            </a:endParaRPr>
          </a:p>
          <a:p>
            <a:pPr marL="0" lvl="0" indent="0" algn="ctr" rtl="0">
              <a:spcBef>
                <a:spcPts val="0"/>
              </a:spcBef>
              <a:spcAft>
                <a:spcPts val="0"/>
              </a:spcAft>
              <a:buNone/>
            </a:pPr>
            <a:r>
              <a:rPr lang="en" sz="3756">
                <a:solidFill>
                  <a:schemeClr val="dk1"/>
                </a:solidFill>
              </a:rPr>
              <a:t>Chloe Li</a:t>
            </a:r>
            <a:endParaRPr sz="3756">
              <a:solidFill>
                <a:schemeClr val="dk1"/>
              </a:solidFill>
            </a:endParaRPr>
          </a:p>
          <a:p>
            <a:pPr marL="0" lvl="0" indent="0" algn="ctr" rtl="0">
              <a:spcBef>
                <a:spcPts val="0"/>
              </a:spcBef>
              <a:spcAft>
                <a:spcPts val="0"/>
              </a:spcAft>
              <a:buNone/>
            </a:pPr>
            <a:r>
              <a:rPr lang="en" sz="3756">
                <a:solidFill>
                  <a:schemeClr val="dk1"/>
                </a:solidFill>
              </a:rPr>
              <a:t>Christine Romano</a:t>
            </a:r>
            <a:endParaRPr sz="3756">
              <a:solidFill>
                <a:schemeClr val="dk1"/>
              </a:solidFill>
            </a:endParaRPr>
          </a:p>
          <a:p>
            <a:pPr marL="0" lvl="0" indent="0" algn="ctr" rtl="0">
              <a:spcBef>
                <a:spcPts val="0"/>
              </a:spcBef>
              <a:spcAft>
                <a:spcPts val="0"/>
              </a:spcAft>
              <a:buClr>
                <a:schemeClr val="dk1"/>
              </a:buClr>
              <a:buSzPct val="29282"/>
              <a:buFont typeface="Arial"/>
              <a:buNone/>
            </a:pPr>
            <a:r>
              <a:rPr lang="en" sz="3756">
                <a:solidFill>
                  <a:schemeClr val="dk1"/>
                </a:solidFill>
              </a:rPr>
              <a:t>Natasha Mathew</a:t>
            </a:r>
            <a:endParaRPr sz="3756">
              <a:solidFill>
                <a:schemeClr val="dk1"/>
              </a:solidFill>
            </a:endParaRPr>
          </a:p>
          <a:p>
            <a:pPr marL="0" lvl="0" indent="0" algn="ctr" rtl="0">
              <a:spcBef>
                <a:spcPts val="0"/>
              </a:spcBef>
              <a:spcAft>
                <a:spcPts val="0"/>
              </a:spcAft>
              <a:buNone/>
            </a:pPr>
            <a:r>
              <a:rPr lang="en" sz="3756">
                <a:solidFill>
                  <a:schemeClr val="dk1"/>
                </a:solidFill>
              </a:rPr>
              <a:t>Semiha Demirbas Caglayan</a:t>
            </a:r>
            <a:endParaRPr sz="3756">
              <a:solidFill>
                <a:schemeClr val="dk1"/>
              </a:solidFill>
            </a:endParaRPr>
          </a:p>
          <a:p>
            <a:pPr marL="0" lvl="0" indent="0" algn="ctr" rtl="0">
              <a:spcBef>
                <a:spcPts val="0"/>
              </a:spcBef>
              <a:spcAft>
                <a:spcPts val="0"/>
              </a:spcAft>
              <a:buNone/>
            </a:pPr>
            <a:r>
              <a:rPr lang="en" sz="3756">
                <a:solidFill>
                  <a:schemeClr val="dk1"/>
                </a:solidFill>
              </a:rPr>
              <a:t>Tanner Ferreira</a:t>
            </a:r>
            <a:endParaRPr sz="1833">
              <a:solidFill>
                <a:srgbClr val="000000"/>
              </a:solidFill>
            </a:endParaRPr>
          </a:p>
        </p:txBody>
      </p:sp>
      <p:sp>
        <p:nvSpPr>
          <p:cNvPr id="56" name="Google Shape;56;p13"/>
          <p:cNvSpPr txBox="1"/>
          <p:nvPr/>
        </p:nvSpPr>
        <p:spPr>
          <a:xfrm>
            <a:off x="1850" y="4440975"/>
            <a:ext cx="50382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Data from City of Toronto Open Data on Streetcar Delays: https://open.toronto.ca/dataset/ttc-streetcar-delay-data/ </a:t>
            </a:r>
            <a:endParaRPr/>
          </a:p>
        </p:txBody>
      </p:sp>
      <p:pic>
        <p:nvPicPr>
          <p:cNvPr id="57" name="Google Shape;57;p13" title="map3_501mxd.jpg"/>
          <p:cNvPicPr preferRelativeResize="0"/>
          <p:nvPr/>
        </p:nvPicPr>
        <p:blipFill>
          <a:blip r:embed="rId3">
            <a:alphaModFix/>
          </a:blip>
          <a:stretch>
            <a:fillRect/>
          </a:stretch>
        </p:blipFill>
        <p:spPr>
          <a:xfrm>
            <a:off x="5183650" y="86925"/>
            <a:ext cx="3841300" cy="4969651"/>
          </a:xfrm>
          <a:prstGeom prst="rect">
            <a:avLst/>
          </a:prstGeom>
          <a:noFill/>
          <a:ln>
            <a:noFill/>
          </a:ln>
        </p:spPr>
      </p:pic>
      <p:pic>
        <p:nvPicPr>
          <p:cNvPr id="58" name="Google Shape;58;p13" title="untitled-1_6.jpg"/>
          <p:cNvPicPr preferRelativeResize="0"/>
          <p:nvPr/>
        </p:nvPicPr>
        <p:blipFill rotWithShape="1">
          <a:blip r:embed="rId4">
            <a:alphaModFix/>
          </a:blip>
          <a:srcRect t="21891" b="22728"/>
          <a:stretch/>
        </p:blipFill>
        <p:spPr>
          <a:xfrm>
            <a:off x="1942069" y="1137403"/>
            <a:ext cx="1288700" cy="713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ctrTitle"/>
          </p:nvPr>
        </p:nvSpPr>
        <p:spPr>
          <a:xfrm>
            <a:off x="311700" y="194350"/>
            <a:ext cx="8520600" cy="59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200"/>
              <a:t>Rationale and Goals for the Project</a:t>
            </a:r>
            <a:endParaRPr sz="3200"/>
          </a:p>
        </p:txBody>
      </p:sp>
      <p:sp>
        <p:nvSpPr>
          <p:cNvPr id="64" name="Google Shape;64;p14"/>
          <p:cNvSpPr txBox="1">
            <a:spLocks noGrp="1"/>
          </p:cNvSpPr>
          <p:nvPr>
            <p:ph type="subTitle" idx="1"/>
          </p:nvPr>
        </p:nvSpPr>
        <p:spPr>
          <a:xfrm>
            <a:off x="0" y="852150"/>
            <a:ext cx="8971500" cy="2269500"/>
          </a:xfrm>
          <a:prstGeom prst="rect">
            <a:avLst/>
          </a:prstGeom>
        </p:spPr>
        <p:txBody>
          <a:bodyPr spcFirstLastPara="1" wrap="square" lIns="91425" tIns="91425" rIns="91425" bIns="91425" anchor="t" anchorCtr="0">
            <a:normAutofit lnSpcReduction="10000"/>
          </a:bodyPr>
          <a:lstStyle/>
          <a:p>
            <a:pPr marL="0" lvl="0" indent="0" algn="l" rtl="0">
              <a:lnSpc>
                <a:spcPct val="80000"/>
              </a:lnSpc>
              <a:spcBef>
                <a:spcPts val="1000"/>
              </a:spcBef>
              <a:spcAft>
                <a:spcPts val="0"/>
              </a:spcAft>
              <a:buNone/>
            </a:pPr>
            <a:r>
              <a:rPr lang="en" sz="2600">
                <a:solidFill>
                  <a:srgbClr val="000000"/>
                </a:solidFill>
              </a:rPr>
              <a:t>Can we identify the key factors that impact streetcar delay times?</a:t>
            </a:r>
            <a:endParaRPr sz="2600">
              <a:solidFill>
                <a:srgbClr val="000000"/>
              </a:solidFill>
            </a:endParaRPr>
          </a:p>
          <a:p>
            <a:pPr marL="457200" lvl="0" indent="-342900" algn="l" rtl="0">
              <a:lnSpc>
                <a:spcPct val="115000"/>
              </a:lnSpc>
              <a:spcBef>
                <a:spcPts val="1000"/>
              </a:spcBef>
              <a:spcAft>
                <a:spcPts val="0"/>
              </a:spcAft>
              <a:buClr>
                <a:srgbClr val="000000"/>
              </a:buClr>
              <a:buSzPts val="1800"/>
              <a:buChar char="●"/>
            </a:pPr>
            <a:r>
              <a:rPr lang="en" sz="1800">
                <a:solidFill>
                  <a:srgbClr val="000000"/>
                </a:solidFill>
              </a:rPr>
              <a:t>Features recorded by TTC include: Location, Time of Day, Date, Line, Incident Type, Minute Gap, Vehicle, Direction</a:t>
            </a:r>
            <a:endParaRPr sz="1800">
              <a:solidFill>
                <a:srgbClr val="000000"/>
              </a:solidFill>
            </a:endParaRPr>
          </a:p>
          <a:p>
            <a:pPr marL="457200" lvl="0" indent="-342900" algn="l" rtl="0">
              <a:lnSpc>
                <a:spcPct val="115000"/>
              </a:lnSpc>
              <a:spcBef>
                <a:spcPts val="0"/>
              </a:spcBef>
              <a:spcAft>
                <a:spcPts val="0"/>
              </a:spcAft>
              <a:buClr>
                <a:srgbClr val="000000"/>
              </a:buClr>
              <a:buSzPts val="1800"/>
              <a:buChar char="●"/>
            </a:pPr>
            <a:r>
              <a:rPr lang="en" sz="1800">
                <a:solidFill>
                  <a:srgbClr val="000000"/>
                </a:solidFill>
              </a:rPr>
              <a:t>External source: climate.weather.gc.ca</a:t>
            </a:r>
            <a:endParaRPr sz="1800">
              <a:solidFill>
                <a:srgbClr val="000000"/>
              </a:solidFill>
            </a:endParaRPr>
          </a:p>
          <a:p>
            <a:pPr marL="457200" lvl="0" indent="-342900" algn="l" rtl="0">
              <a:lnSpc>
                <a:spcPct val="115000"/>
              </a:lnSpc>
              <a:spcBef>
                <a:spcPts val="0"/>
              </a:spcBef>
              <a:spcAft>
                <a:spcPts val="0"/>
              </a:spcAft>
              <a:buClr>
                <a:srgbClr val="000000"/>
              </a:buClr>
              <a:buSzPts val="1800"/>
              <a:buChar char="●"/>
            </a:pPr>
            <a:r>
              <a:rPr lang="en" sz="1800">
                <a:solidFill>
                  <a:srgbClr val="000000"/>
                </a:solidFill>
              </a:rPr>
              <a:t>Examined 2024 data: most recent dataset </a:t>
            </a:r>
            <a:endParaRPr sz="1800">
              <a:solidFill>
                <a:srgbClr val="000000"/>
              </a:solidFill>
            </a:endParaRPr>
          </a:p>
        </p:txBody>
      </p:sp>
      <p:pic>
        <p:nvPicPr>
          <p:cNvPr id="65" name="Google Shape;65;p14" title="8e26-rapidto-bus-streetcar-priority-web-banner-1024x338.png"/>
          <p:cNvPicPr preferRelativeResize="0"/>
          <p:nvPr/>
        </p:nvPicPr>
        <p:blipFill rotWithShape="1">
          <a:blip r:embed="rId3">
            <a:alphaModFix/>
          </a:blip>
          <a:srcRect l="10942" r="54590"/>
          <a:stretch/>
        </p:blipFill>
        <p:spPr>
          <a:xfrm>
            <a:off x="6065225" y="2258401"/>
            <a:ext cx="2906276" cy="2783351"/>
          </a:xfrm>
          <a:prstGeom prst="rect">
            <a:avLst/>
          </a:prstGeom>
          <a:noFill/>
          <a:ln>
            <a:noFill/>
          </a:ln>
        </p:spPr>
      </p:pic>
      <p:sp>
        <p:nvSpPr>
          <p:cNvPr id="66" name="Google Shape;66;p14"/>
          <p:cNvSpPr txBox="1"/>
          <p:nvPr/>
        </p:nvSpPr>
        <p:spPr>
          <a:xfrm>
            <a:off x="-17400" y="3121650"/>
            <a:ext cx="5976600" cy="18471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1"/>
              </a:buClr>
              <a:buSzPts val="1800"/>
              <a:buChar char="●"/>
            </a:pPr>
            <a:r>
              <a:rPr lang="en" sz="1800">
                <a:solidFill>
                  <a:schemeClr val="dk1"/>
                </a:solidFill>
              </a:rPr>
              <a:t>Stakeholders include:</a:t>
            </a:r>
            <a:endParaRPr sz="1800">
              <a:solidFill>
                <a:schemeClr val="dk1"/>
              </a:solidFill>
            </a:endParaRPr>
          </a:p>
          <a:p>
            <a:pPr marL="914400" lvl="1" indent="-342900" algn="l" rtl="0">
              <a:spcBef>
                <a:spcPts val="0"/>
              </a:spcBef>
              <a:spcAft>
                <a:spcPts val="0"/>
              </a:spcAft>
              <a:buClr>
                <a:schemeClr val="dk1"/>
              </a:buClr>
              <a:buSzPts val="1800"/>
              <a:buChar char="○"/>
            </a:pPr>
            <a:r>
              <a:rPr lang="en" sz="1800">
                <a:solidFill>
                  <a:schemeClr val="dk1"/>
                </a:solidFill>
              </a:rPr>
              <a:t>TTC Business Strategy &amp; Insights Teams</a:t>
            </a:r>
            <a:endParaRPr sz="1800">
              <a:solidFill>
                <a:schemeClr val="dk1"/>
              </a:solidFill>
            </a:endParaRPr>
          </a:p>
          <a:p>
            <a:pPr marL="914400" lvl="1" indent="-342900" algn="l" rtl="0">
              <a:spcBef>
                <a:spcPts val="0"/>
              </a:spcBef>
              <a:spcAft>
                <a:spcPts val="0"/>
              </a:spcAft>
              <a:buClr>
                <a:schemeClr val="dk1"/>
              </a:buClr>
              <a:buSzPts val="1800"/>
              <a:buChar char="○"/>
            </a:pPr>
            <a:r>
              <a:rPr lang="en" sz="1800">
                <a:solidFill>
                  <a:schemeClr val="dk1"/>
                </a:solidFill>
              </a:rPr>
              <a:t>TTC Operations, Planning, &amp; Data Teams</a:t>
            </a:r>
            <a:endParaRPr sz="1800">
              <a:solidFill>
                <a:schemeClr val="dk1"/>
              </a:solidFill>
            </a:endParaRPr>
          </a:p>
          <a:p>
            <a:pPr marL="914400" lvl="1" indent="-342900" algn="l" rtl="0">
              <a:spcBef>
                <a:spcPts val="0"/>
              </a:spcBef>
              <a:spcAft>
                <a:spcPts val="0"/>
              </a:spcAft>
              <a:buClr>
                <a:schemeClr val="dk1"/>
              </a:buClr>
              <a:buSzPts val="1800"/>
              <a:buChar char="○"/>
            </a:pPr>
            <a:r>
              <a:rPr lang="en" sz="1800">
                <a:solidFill>
                  <a:schemeClr val="dk1"/>
                </a:solidFill>
              </a:rPr>
              <a:t>TTC Communications Team</a:t>
            </a:r>
            <a:endParaRPr sz="1800">
              <a:solidFill>
                <a:schemeClr val="dk1"/>
              </a:solidFill>
            </a:endParaRPr>
          </a:p>
          <a:p>
            <a:pPr marL="914400" lvl="1" indent="-342900" algn="l" rtl="0">
              <a:spcBef>
                <a:spcPts val="0"/>
              </a:spcBef>
              <a:spcAft>
                <a:spcPts val="0"/>
              </a:spcAft>
              <a:buClr>
                <a:schemeClr val="dk1"/>
              </a:buClr>
              <a:buSzPts val="1800"/>
              <a:buChar char="○"/>
            </a:pPr>
            <a:r>
              <a:rPr lang="en" sz="1800">
                <a:solidFill>
                  <a:schemeClr val="dk1"/>
                </a:solidFill>
              </a:rPr>
              <a:t>TTC HR Team</a:t>
            </a:r>
            <a:endParaRPr sz="1800">
              <a:solidFill>
                <a:schemeClr val="dk1"/>
              </a:solidFill>
            </a:endParaRPr>
          </a:p>
          <a:p>
            <a:pPr marL="914400" lvl="1" indent="-342900" algn="l" rtl="0">
              <a:spcBef>
                <a:spcPts val="0"/>
              </a:spcBef>
              <a:spcAft>
                <a:spcPts val="0"/>
              </a:spcAft>
              <a:buClr>
                <a:schemeClr val="dk1"/>
              </a:buClr>
              <a:buSzPts val="1800"/>
              <a:buChar char="○"/>
            </a:pPr>
            <a:r>
              <a:rPr lang="en" sz="1800">
                <a:solidFill>
                  <a:schemeClr val="dk1"/>
                </a:solidFill>
              </a:rPr>
              <a:t>TTC Users</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ctrTitle"/>
          </p:nvPr>
        </p:nvSpPr>
        <p:spPr>
          <a:xfrm>
            <a:off x="311700" y="321125"/>
            <a:ext cx="8520600" cy="52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200"/>
              <a:t>Findings from Exploratory Analyses </a:t>
            </a:r>
            <a:endParaRPr sz="3200"/>
          </a:p>
        </p:txBody>
      </p:sp>
      <p:sp>
        <p:nvSpPr>
          <p:cNvPr id="72" name="Google Shape;72;p15"/>
          <p:cNvSpPr txBox="1"/>
          <p:nvPr/>
        </p:nvSpPr>
        <p:spPr>
          <a:xfrm>
            <a:off x="14725" y="797000"/>
            <a:ext cx="4474500" cy="2277516"/>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chemeClr val="dk1"/>
              </a:buClr>
              <a:buSzPts val="2000"/>
              <a:buChar char="●"/>
            </a:pPr>
            <a:r>
              <a:rPr lang="en" sz="2000" dirty="0">
                <a:solidFill>
                  <a:schemeClr val="dk1"/>
                </a:solidFill>
              </a:rPr>
              <a:t>Data is messy, especially Location</a:t>
            </a:r>
            <a:endParaRPr sz="2000" dirty="0">
              <a:solidFill>
                <a:schemeClr val="dk1"/>
              </a:solidFill>
            </a:endParaRPr>
          </a:p>
          <a:p>
            <a:pPr marL="914400" lvl="1" indent="-330200" algn="l" rtl="0">
              <a:spcBef>
                <a:spcPts val="0"/>
              </a:spcBef>
              <a:spcAft>
                <a:spcPts val="0"/>
              </a:spcAft>
              <a:buClr>
                <a:schemeClr val="dk1"/>
              </a:buClr>
              <a:buSzPts val="1600"/>
              <a:buChar char="○"/>
            </a:pPr>
            <a:r>
              <a:rPr lang="en" sz="1600" dirty="0">
                <a:solidFill>
                  <a:schemeClr val="dk1"/>
                </a:solidFill>
              </a:rPr>
              <a:t>Numerous inconsistencies that had to be cleaned manually.</a:t>
            </a:r>
            <a:endParaRPr sz="1600" dirty="0">
              <a:solidFill>
                <a:schemeClr val="dk1"/>
              </a:solidFill>
            </a:endParaRPr>
          </a:p>
          <a:p>
            <a:pPr marL="914400" lvl="1" indent="-330200" algn="l" rtl="0">
              <a:spcBef>
                <a:spcPts val="0"/>
              </a:spcBef>
              <a:spcAft>
                <a:spcPts val="0"/>
              </a:spcAft>
              <a:buClr>
                <a:schemeClr val="dk1"/>
              </a:buClr>
              <a:buSzPts val="1600"/>
              <a:buChar char="○"/>
            </a:pPr>
            <a:r>
              <a:rPr lang="en" sz="1600" dirty="0">
                <a:solidFill>
                  <a:schemeClr val="dk1"/>
                </a:solidFill>
              </a:rPr>
              <a:t>2104 unique locations before cleaning, 1573 after cleaning.</a:t>
            </a:r>
            <a:endParaRPr sz="1600" dirty="0">
              <a:solidFill>
                <a:schemeClr val="dk1"/>
              </a:solidFill>
            </a:endParaRPr>
          </a:p>
          <a:p>
            <a:pPr marL="914400" lvl="1" indent="-330200" algn="l" rtl="0">
              <a:spcBef>
                <a:spcPts val="0"/>
              </a:spcBef>
              <a:spcAft>
                <a:spcPts val="0"/>
              </a:spcAft>
              <a:buClr>
                <a:schemeClr val="dk1"/>
              </a:buClr>
              <a:buSzPts val="1600"/>
              <a:buChar char="○"/>
            </a:pPr>
            <a:r>
              <a:rPr lang="en" sz="1600" dirty="0">
                <a:solidFill>
                  <a:schemeClr val="dk1"/>
                </a:solidFill>
              </a:rPr>
              <a:t>Location data removed from regression analyses</a:t>
            </a:r>
            <a:endParaRPr sz="1600" b="1" dirty="0">
              <a:solidFill>
                <a:schemeClr val="dk1"/>
              </a:solidFill>
            </a:endParaRPr>
          </a:p>
        </p:txBody>
      </p:sp>
      <p:sp>
        <p:nvSpPr>
          <p:cNvPr id="73" name="Google Shape;73;p15"/>
          <p:cNvSpPr txBox="1"/>
          <p:nvPr/>
        </p:nvSpPr>
        <p:spPr>
          <a:xfrm>
            <a:off x="0" y="3931350"/>
            <a:ext cx="4614300" cy="9852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chemeClr val="dk1"/>
              </a:buClr>
              <a:buSzPts val="2000"/>
              <a:buChar char="●"/>
            </a:pPr>
            <a:r>
              <a:rPr lang="en" sz="2000">
                <a:solidFill>
                  <a:schemeClr val="dk1"/>
                </a:solidFill>
              </a:rPr>
              <a:t>Skewed dataset</a:t>
            </a:r>
            <a:endParaRPr sz="2000">
              <a:solidFill>
                <a:schemeClr val="dk1"/>
              </a:solidFill>
            </a:endParaRPr>
          </a:p>
          <a:p>
            <a:pPr marL="914400" lvl="1" indent="-330200" algn="l" rtl="0">
              <a:spcBef>
                <a:spcPts val="0"/>
              </a:spcBef>
              <a:spcAft>
                <a:spcPts val="0"/>
              </a:spcAft>
              <a:buClr>
                <a:schemeClr val="dk1"/>
              </a:buClr>
              <a:buSzPts val="1600"/>
              <a:buChar char="○"/>
            </a:pPr>
            <a:r>
              <a:rPr lang="en" sz="1600">
                <a:solidFill>
                  <a:schemeClr val="dk1"/>
                </a:solidFill>
              </a:rPr>
              <a:t>Mean = 16 minutes</a:t>
            </a:r>
            <a:endParaRPr sz="1600">
              <a:solidFill>
                <a:schemeClr val="dk1"/>
              </a:solidFill>
            </a:endParaRPr>
          </a:p>
          <a:p>
            <a:pPr marL="914400" lvl="1" indent="-330200" algn="l" rtl="0">
              <a:spcBef>
                <a:spcPts val="0"/>
              </a:spcBef>
              <a:spcAft>
                <a:spcPts val="0"/>
              </a:spcAft>
              <a:buClr>
                <a:schemeClr val="dk1"/>
              </a:buClr>
              <a:buSzPts val="1600"/>
              <a:buChar char="○"/>
            </a:pPr>
            <a:r>
              <a:rPr lang="en" sz="1600">
                <a:solidFill>
                  <a:schemeClr val="dk1"/>
                </a:solidFill>
              </a:rPr>
              <a:t>Median = 10 minutes</a:t>
            </a:r>
            <a:endParaRPr sz="1600">
              <a:solidFill>
                <a:schemeClr val="dk1"/>
              </a:solidFill>
            </a:endParaRPr>
          </a:p>
        </p:txBody>
      </p:sp>
      <p:grpSp>
        <p:nvGrpSpPr>
          <p:cNvPr id="74" name="Google Shape;74;p15"/>
          <p:cNvGrpSpPr/>
          <p:nvPr/>
        </p:nvGrpSpPr>
        <p:grpSpPr>
          <a:xfrm>
            <a:off x="509975" y="3145363"/>
            <a:ext cx="3276600" cy="568200"/>
            <a:chOff x="5812675" y="974800"/>
            <a:chExt cx="3276600" cy="568200"/>
          </a:xfrm>
        </p:grpSpPr>
        <p:sp>
          <p:nvSpPr>
            <p:cNvPr id="75" name="Google Shape;75;p15"/>
            <p:cNvSpPr/>
            <p:nvPr/>
          </p:nvSpPr>
          <p:spPr>
            <a:xfrm>
              <a:off x="5812675" y="974800"/>
              <a:ext cx="3276600" cy="568200"/>
            </a:xfrm>
            <a:prstGeom prst="rect">
              <a:avLst/>
            </a:prstGeom>
            <a:noFill/>
            <a:ln w="23150" cap="flat" cmpd="sng">
              <a:solidFill>
                <a:schemeClr val="accent1"/>
              </a:solidFill>
              <a:prstDash val="solid"/>
              <a:round/>
              <a:headEnd type="none" w="sm" len="sm"/>
              <a:tailEnd type="none" w="sm" len="sm"/>
            </a:ln>
          </p:spPr>
          <p:txBody>
            <a:bodyPr spcFirstLastPara="1" wrap="square" lIns="74125" tIns="74125" rIns="74125" bIns="74125" anchor="ctr" anchorCtr="0">
              <a:noAutofit/>
            </a:bodyPr>
            <a:lstStyle/>
            <a:p>
              <a:pPr marL="0" lvl="0" indent="0" algn="ctr" rtl="0">
                <a:spcBef>
                  <a:spcPts val="0"/>
                </a:spcBef>
                <a:spcAft>
                  <a:spcPts val="0"/>
                </a:spcAft>
                <a:buNone/>
              </a:pPr>
              <a:endParaRPr sz="1135"/>
            </a:p>
          </p:txBody>
        </p:sp>
        <p:grpSp>
          <p:nvGrpSpPr>
            <p:cNvPr id="76" name="Google Shape;76;p15"/>
            <p:cNvGrpSpPr/>
            <p:nvPr/>
          </p:nvGrpSpPr>
          <p:grpSpPr>
            <a:xfrm>
              <a:off x="5840262" y="1020771"/>
              <a:ext cx="3220314" cy="480183"/>
              <a:chOff x="6292387" y="1125546"/>
              <a:chExt cx="3220314" cy="480183"/>
            </a:xfrm>
          </p:grpSpPr>
          <p:pic>
            <p:nvPicPr>
              <p:cNvPr id="77" name="Google Shape;77;p15" title="Screenshot 2025-11-14 at 1.35.12 AM.png"/>
              <p:cNvPicPr preferRelativeResize="0"/>
              <p:nvPr/>
            </p:nvPicPr>
            <p:blipFill>
              <a:blip r:embed="rId3">
                <a:alphaModFix/>
              </a:blip>
              <a:stretch>
                <a:fillRect/>
              </a:stretch>
            </p:blipFill>
            <p:spPr>
              <a:xfrm>
                <a:off x="8082182" y="1344651"/>
                <a:ext cx="1294104" cy="261078"/>
              </a:xfrm>
              <a:prstGeom prst="rect">
                <a:avLst/>
              </a:prstGeom>
              <a:noFill/>
              <a:ln>
                <a:noFill/>
              </a:ln>
            </p:spPr>
          </p:pic>
          <p:pic>
            <p:nvPicPr>
              <p:cNvPr id="78" name="Google Shape;78;p15" title="Screenshot 2025-11-14 at 1.35.37 AM.png"/>
              <p:cNvPicPr preferRelativeResize="0"/>
              <p:nvPr/>
            </p:nvPicPr>
            <p:blipFill>
              <a:blip r:embed="rId4">
                <a:alphaModFix/>
              </a:blip>
              <a:stretch>
                <a:fillRect/>
              </a:stretch>
            </p:blipFill>
            <p:spPr>
              <a:xfrm>
                <a:off x="6292387" y="1329403"/>
                <a:ext cx="1829566" cy="253476"/>
              </a:xfrm>
              <a:prstGeom prst="rect">
                <a:avLst/>
              </a:prstGeom>
              <a:noFill/>
              <a:ln>
                <a:noFill/>
              </a:ln>
            </p:spPr>
          </p:pic>
          <p:pic>
            <p:nvPicPr>
              <p:cNvPr id="79" name="Google Shape;79;p15" title="Screenshot 2025-11-14 at 1.36.00 AM.png"/>
              <p:cNvPicPr preferRelativeResize="0"/>
              <p:nvPr/>
            </p:nvPicPr>
            <p:blipFill>
              <a:blip r:embed="rId5">
                <a:alphaModFix/>
              </a:blip>
              <a:stretch>
                <a:fillRect/>
              </a:stretch>
            </p:blipFill>
            <p:spPr>
              <a:xfrm>
                <a:off x="6378840" y="1125546"/>
                <a:ext cx="1566936" cy="241963"/>
              </a:xfrm>
              <a:prstGeom prst="rect">
                <a:avLst/>
              </a:prstGeom>
              <a:noFill/>
              <a:ln>
                <a:noFill/>
              </a:ln>
            </p:spPr>
          </p:pic>
          <p:pic>
            <p:nvPicPr>
              <p:cNvPr id="80" name="Google Shape;80;p15" title="Screenshot 2025-11-14 at 1.46.57 AM.png"/>
              <p:cNvPicPr preferRelativeResize="0"/>
              <p:nvPr/>
            </p:nvPicPr>
            <p:blipFill>
              <a:blip r:embed="rId6">
                <a:alphaModFix/>
              </a:blip>
              <a:stretch>
                <a:fillRect/>
              </a:stretch>
            </p:blipFill>
            <p:spPr>
              <a:xfrm>
                <a:off x="7945769" y="1129690"/>
                <a:ext cx="1566931" cy="253474"/>
              </a:xfrm>
              <a:prstGeom prst="rect">
                <a:avLst/>
              </a:prstGeom>
              <a:noFill/>
              <a:ln>
                <a:noFill/>
              </a:ln>
            </p:spPr>
          </p:pic>
        </p:grpSp>
      </p:grpSp>
      <p:sp>
        <p:nvSpPr>
          <p:cNvPr id="81" name="Google Shape;81;p15"/>
          <p:cNvSpPr txBox="1"/>
          <p:nvPr/>
        </p:nvSpPr>
        <p:spPr>
          <a:xfrm>
            <a:off x="4489235" y="847325"/>
            <a:ext cx="4614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rPr>
              <a:t>Visualization provided more insights </a:t>
            </a:r>
            <a:endParaRPr sz="2000" b="1">
              <a:solidFill>
                <a:schemeClr val="dk1"/>
              </a:solidFill>
            </a:endParaRPr>
          </a:p>
          <a:p>
            <a:pPr marL="0" lvl="0" indent="0" algn="l" rtl="0">
              <a:spcBef>
                <a:spcPts val="0"/>
              </a:spcBef>
              <a:spcAft>
                <a:spcPts val="0"/>
              </a:spcAft>
              <a:buNone/>
            </a:pPr>
            <a:r>
              <a:rPr lang="en" sz="2000" b="1">
                <a:solidFill>
                  <a:schemeClr val="dk1"/>
                </a:solidFill>
              </a:rPr>
              <a:t>than regression / classification </a:t>
            </a:r>
            <a:endParaRPr sz="2000" b="1">
              <a:solidFill>
                <a:schemeClr val="dk1"/>
              </a:solidFill>
            </a:endParaRPr>
          </a:p>
          <a:p>
            <a:pPr marL="0" lvl="0" indent="0" algn="l" rtl="0">
              <a:spcBef>
                <a:spcPts val="0"/>
              </a:spcBef>
              <a:spcAft>
                <a:spcPts val="0"/>
              </a:spcAft>
              <a:buNone/>
            </a:pPr>
            <a:r>
              <a:rPr lang="en" sz="2000" b="1">
                <a:solidFill>
                  <a:schemeClr val="dk1"/>
                </a:solidFill>
              </a:rPr>
              <a:t>for this dataset!</a:t>
            </a:r>
            <a:endParaRPr sz="2000"/>
          </a:p>
        </p:txBody>
      </p:sp>
      <p:pic>
        <p:nvPicPr>
          <p:cNvPr id="3" name="Picture 2" descr="A graph with blue rectangular bars&#10;&#10;AI-generated content may be incorrect.">
            <a:extLst>
              <a:ext uri="{FF2B5EF4-FFF2-40B4-BE49-F238E27FC236}">
                <a16:creationId xmlns:a16="http://schemas.microsoft.com/office/drawing/2014/main" id="{D6C35514-F72A-3662-D597-940DEBFE5C99}"/>
              </a:ext>
            </a:extLst>
          </p:cNvPr>
          <p:cNvPicPr>
            <a:picLocks noChangeAspect="1"/>
          </p:cNvPicPr>
          <p:nvPr/>
        </p:nvPicPr>
        <p:blipFill>
          <a:blip r:embed="rId7"/>
          <a:stretch>
            <a:fillRect/>
          </a:stretch>
        </p:blipFill>
        <p:spPr>
          <a:xfrm>
            <a:off x="4020510" y="2365054"/>
            <a:ext cx="5022835" cy="24713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6" title="output.png"/>
          <p:cNvPicPr preferRelativeResize="0"/>
          <p:nvPr/>
        </p:nvPicPr>
        <p:blipFill>
          <a:blip r:embed="rId3">
            <a:alphaModFix/>
          </a:blip>
          <a:stretch>
            <a:fillRect/>
          </a:stretch>
        </p:blipFill>
        <p:spPr>
          <a:xfrm>
            <a:off x="152400" y="1151540"/>
            <a:ext cx="8935300" cy="3948600"/>
          </a:xfrm>
          <a:prstGeom prst="rect">
            <a:avLst/>
          </a:prstGeom>
          <a:noFill/>
          <a:ln>
            <a:noFill/>
          </a:ln>
        </p:spPr>
      </p:pic>
      <p:sp>
        <p:nvSpPr>
          <p:cNvPr id="88" name="Google Shape;88;p16"/>
          <p:cNvSpPr txBox="1">
            <a:spLocks noGrp="1"/>
          </p:cNvSpPr>
          <p:nvPr>
            <p:ph type="ctrTitle" idx="4294967295"/>
          </p:nvPr>
        </p:nvSpPr>
        <p:spPr>
          <a:xfrm>
            <a:off x="562375" y="108450"/>
            <a:ext cx="8176200" cy="52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200"/>
              <a:t>Certain Locations Were “Delay Hotspots” </a:t>
            </a:r>
            <a:endParaRPr sz="3200"/>
          </a:p>
        </p:txBody>
      </p:sp>
      <p:sp>
        <p:nvSpPr>
          <p:cNvPr id="89" name="Google Shape;89;p16"/>
          <p:cNvSpPr txBox="1"/>
          <p:nvPr/>
        </p:nvSpPr>
        <p:spPr>
          <a:xfrm>
            <a:off x="313225" y="693609"/>
            <a:ext cx="8674500" cy="677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Just under 2% of locations (27) accounted for 32.2% of delay incidents and 26.4% of delay time in 2024.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231867" y="0"/>
            <a:ext cx="8520600" cy="118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000"/>
              <a:t>Some lines and times of day were more prone to delays</a:t>
            </a:r>
            <a:endParaRPr sz="3000"/>
          </a:p>
        </p:txBody>
      </p:sp>
      <p:sp>
        <p:nvSpPr>
          <p:cNvPr id="95" name="Google Shape;95;p17"/>
          <p:cNvSpPr txBox="1"/>
          <p:nvPr/>
        </p:nvSpPr>
        <p:spPr>
          <a:xfrm>
            <a:off x="61775" y="1459875"/>
            <a:ext cx="1827600" cy="2678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t>Line 508 accumulated long delays midday.</a:t>
            </a:r>
            <a:endParaRPr sz="1800"/>
          </a:p>
          <a:p>
            <a:pPr marL="0" lvl="0" indent="0" algn="ctr" rtl="0">
              <a:spcBef>
                <a:spcPts val="0"/>
              </a:spcBef>
              <a:spcAft>
                <a:spcPts val="0"/>
              </a:spcAft>
              <a:buNone/>
            </a:pPr>
            <a:endParaRPr sz="1800"/>
          </a:p>
          <a:p>
            <a:pPr marL="0" lvl="0" indent="0" algn="ctr" rtl="0">
              <a:spcBef>
                <a:spcPts val="0"/>
              </a:spcBef>
              <a:spcAft>
                <a:spcPts val="0"/>
              </a:spcAft>
              <a:buNone/>
            </a:pPr>
            <a:r>
              <a:rPr lang="en" sz="1800"/>
              <a:t>Delays more likely late night and early morning.</a:t>
            </a:r>
            <a:endParaRPr sz="1800"/>
          </a:p>
        </p:txBody>
      </p:sp>
      <p:pic>
        <p:nvPicPr>
          <p:cNvPr id="96" name="Google Shape;96;p17" title="temporal heatmap.png"/>
          <p:cNvPicPr preferRelativeResize="0"/>
          <p:nvPr/>
        </p:nvPicPr>
        <p:blipFill>
          <a:blip r:embed="rId3">
            <a:alphaModFix/>
          </a:blip>
          <a:stretch>
            <a:fillRect/>
          </a:stretch>
        </p:blipFill>
        <p:spPr>
          <a:xfrm>
            <a:off x="1889375" y="823400"/>
            <a:ext cx="7166649" cy="432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170991" y="143075"/>
            <a:ext cx="8802000" cy="10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Certain types of incidents created more frequent and longer delays</a:t>
            </a:r>
            <a:endParaRPr sz="3200"/>
          </a:p>
        </p:txBody>
      </p:sp>
      <p:sp>
        <p:nvSpPr>
          <p:cNvPr id="102" name="Google Shape;102;p18"/>
          <p:cNvSpPr txBox="1"/>
          <p:nvPr/>
        </p:nvSpPr>
        <p:spPr>
          <a:xfrm>
            <a:off x="0" y="1270050"/>
            <a:ext cx="2136600" cy="36429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Char char="●"/>
            </a:pPr>
            <a:r>
              <a:rPr lang="en" sz="1600">
                <a:solidFill>
                  <a:schemeClr val="dk1"/>
                </a:solidFill>
              </a:rPr>
              <a:t>Majority of incidents only caused minor or moderate delays </a:t>
            </a:r>
            <a:endParaRPr sz="1600">
              <a:solidFill>
                <a:schemeClr val="dk1"/>
              </a:solidFill>
            </a:endParaRPr>
          </a:p>
          <a:p>
            <a:pPr marL="457200" lvl="0" indent="-330200" algn="l" rtl="0">
              <a:spcBef>
                <a:spcPts val="1000"/>
              </a:spcBef>
              <a:spcAft>
                <a:spcPts val="0"/>
              </a:spcAft>
              <a:buClr>
                <a:schemeClr val="dk1"/>
              </a:buClr>
              <a:buSzPts val="1600"/>
              <a:buChar char="●"/>
            </a:pPr>
            <a:r>
              <a:rPr lang="en" sz="1600">
                <a:solidFill>
                  <a:schemeClr val="dk1"/>
                </a:solidFill>
              </a:rPr>
              <a:t>Diversions likely to cause long delays</a:t>
            </a:r>
            <a:endParaRPr sz="1600">
              <a:solidFill>
                <a:schemeClr val="dk1"/>
              </a:solidFill>
            </a:endParaRPr>
          </a:p>
          <a:p>
            <a:pPr marL="457200" lvl="0" indent="-330200" algn="l" rtl="0">
              <a:spcBef>
                <a:spcPts val="1000"/>
              </a:spcBef>
              <a:spcAft>
                <a:spcPts val="0"/>
              </a:spcAft>
              <a:buClr>
                <a:schemeClr val="dk1"/>
              </a:buClr>
              <a:buSzPts val="1600"/>
              <a:buChar char="●"/>
            </a:pPr>
            <a:r>
              <a:rPr lang="en" sz="1600">
                <a:solidFill>
                  <a:schemeClr val="dk1"/>
                </a:solidFill>
              </a:rPr>
              <a:t>Highest frequency categories are within TTC’s control</a:t>
            </a:r>
            <a:endParaRPr sz="1600">
              <a:solidFill>
                <a:schemeClr val="dk1"/>
              </a:solidFill>
            </a:endParaRPr>
          </a:p>
        </p:txBody>
      </p:sp>
      <p:pic>
        <p:nvPicPr>
          <p:cNvPr id="103" name="Google Shape;103;p18" title="incidient severity distribution type.png"/>
          <p:cNvPicPr preferRelativeResize="0"/>
          <p:nvPr/>
        </p:nvPicPr>
        <p:blipFill>
          <a:blip r:embed="rId3">
            <a:alphaModFix/>
          </a:blip>
          <a:stretch>
            <a:fillRect/>
          </a:stretch>
        </p:blipFill>
        <p:spPr>
          <a:xfrm>
            <a:off x="2201215" y="1270050"/>
            <a:ext cx="6902761" cy="36898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262475" y="3342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Model Methods and Results</a:t>
            </a:r>
            <a:endParaRPr sz="3200"/>
          </a:p>
        </p:txBody>
      </p:sp>
      <p:graphicFrame>
        <p:nvGraphicFramePr>
          <p:cNvPr id="109" name="Google Shape;109;p19"/>
          <p:cNvGraphicFramePr/>
          <p:nvPr/>
        </p:nvGraphicFramePr>
        <p:xfrm>
          <a:off x="248809" y="2701548"/>
          <a:ext cx="4629300" cy="2172923"/>
        </p:xfrm>
        <a:graphic>
          <a:graphicData uri="http://schemas.openxmlformats.org/drawingml/2006/table">
            <a:tbl>
              <a:tblPr>
                <a:noFill/>
                <a:tableStyleId>{D161CA4C-414D-410E-A02C-4491DDEBC8BA}</a:tableStyleId>
              </a:tblPr>
              <a:tblGrid>
                <a:gridCol w="1623375">
                  <a:extLst>
                    <a:ext uri="{9D8B030D-6E8A-4147-A177-3AD203B41FA5}">
                      <a16:colId xmlns:a16="http://schemas.microsoft.com/office/drawing/2014/main" val="20000"/>
                    </a:ext>
                  </a:extLst>
                </a:gridCol>
                <a:gridCol w="1513000">
                  <a:extLst>
                    <a:ext uri="{9D8B030D-6E8A-4147-A177-3AD203B41FA5}">
                      <a16:colId xmlns:a16="http://schemas.microsoft.com/office/drawing/2014/main" val="20001"/>
                    </a:ext>
                  </a:extLst>
                </a:gridCol>
                <a:gridCol w="1492925">
                  <a:extLst>
                    <a:ext uri="{9D8B030D-6E8A-4147-A177-3AD203B41FA5}">
                      <a16:colId xmlns:a16="http://schemas.microsoft.com/office/drawing/2014/main" val="20002"/>
                    </a:ext>
                  </a:extLst>
                </a:gridCol>
              </a:tblGrid>
              <a:tr h="478325">
                <a:tc>
                  <a:txBody>
                    <a:bodyPr/>
                    <a:lstStyle/>
                    <a:p>
                      <a:pPr marL="0" lvl="0" indent="0" algn="ctr" rtl="0">
                        <a:lnSpc>
                          <a:spcPct val="115000"/>
                        </a:lnSpc>
                        <a:spcBef>
                          <a:spcPts val="0"/>
                        </a:spcBef>
                        <a:spcAft>
                          <a:spcPts val="0"/>
                        </a:spcAft>
                        <a:buNone/>
                      </a:pPr>
                      <a:r>
                        <a:rPr lang="en" sz="1100"/>
                        <a:t>Regressor Model</a:t>
                      </a:r>
                      <a:endParaRPr sz="1100"/>
                    </a:p>
                  </a:txBody>
                  <a:tcPr marL="9525" marR="9525" marT="95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t>R</a:t>
                      </a:r>
                      <a:r>
                        <a:rPr lang="en" sz="1100" baseline="30000"/>
                        <a:t>2</a:t>
                      </a:r>
                      <a:r>
                        <a:rPr lang="en" sz="1100"/>
                        <a:t> when Min_Gap Feature Included</a:t>
                      </a:r>
                      <a:endParaRPr sz="1100"/>
                    </a:p>
                  </a:txBody>
                  <a:tcPr marL="9525" marR="9525" marT="95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1100"/>
                        <a:t>R</a:t>
                      </a:r>
                      <a:r>
                        <a:rPr lang="en" sz="1100" baseline="30000"/>
                        <a:t>2</a:t>
                      </a:r>
                      <a:r>
                        <a:rPr lang="en" sz="1100"/>
                        <a:t> when Min_Gap Feature Excluded</a:t>
                      </a:r>
                      <a:endParaRPr sz="1100"/>
                    </a:p>
                  </a:txBody>
                  <a:tcPr marL="9525" marR="9525" marT="95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0"/>
                  </a:ext>
                </a:extLst>
              </a:tr>
              <a:tr h="278450">
                <a:tc>
                  <a:txBody>
                    <a:bodyPr/>
                    <a:lstStyle/>
                    <a:p>
                      <a:pPr marL="0" lvl="0" indent="0" algn="ctr" rtl="0">
                        <a:lnSpc>
                          <a:spcPct val="115000"/>
                        </a:lnSpc>
                        <a:spcBef>
                          <a:spcPts val="0"/>
                        </a:spcBef>
                        <a:spcAft>
                          <a:spcPts val="0"/>
                        </a:spcAft>
                        <a:buNone/>
                      </a:pPr>
                      <a:r>
                        <a:rPr lang="en" sz="1100"/>
                        <a:t>Linear Regression</a:t>
                      </a:r>
                      <a:endParaRPr sz="1100"/>
                    </a:p>
                  </a:txBody>
                  <a:tcPr marL="9525" marR="9525" marT="9525" marB="91425" anchor="b">
                    <a:lnT w="9525"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0.965</a:t>
                      </a:r>
                      <a:endParaRPr sz="1100">
                        <a:latin typeface="Calibri"/>
                        <a:ea typeface="Calibri"/>
                        <a:cs typeface="Calibri"/>
                        <a:sym typeface="Calibri"/>
                      </a:endParaRPr>
                    </a:p>
                  </a:txBody>
                  <a:tcPr marL="9525" marR="9525" marT="9525" marB="91425" anchor="b">
                    <a:solidFill>
                      <a:srgbClr val="B6D7A8"/>
                    </a:solidFill>
                  </a:tcPr>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0.074</a:t>
                      </a:r>
                      <a:endParaRPr sz="1100">
                        <a:latin typeface="Calibri"/>
                        <a:ea typeface="Calibri"/>
                        <a:cs typeface="Calibri"/>
                        <a:sym typeface="Calibri"/>
                      </a:endParaRPr>
                    </a:p>
                  </a:txBody>
                  <a:tcPr marL="9525" marR="9525" marT="9525" marB="91425" anchor="b">
                    <a:solidFill>
                      <a:srgbClr val="DD7E6B"/>
                    </a:solidFill>
                  </a:tcPr>
                </a:tc>
                <a:extLst>
                  <a:ext uri="{0D108BD9-81ED-4DB2-BD59-A6C34878D82A}">
                    <a16:rowId xmlns:a16="http://schemas.microsoft.com/office/drawing/2014/main" val="10001"/>
                  </a:ext>
                </a:extLst>
              </a:tr>
              <a:tr h="278450">
                <a:tc>
                  <a:txBody>
                    <a:bodyPr/>
                    <a:lstStyle/>
                    <a:p>
                      <a:pPr marL="0" lvl="0" indent="0" algn="ctr" rtl="0">
                        <a:lnSpc>
                          <a:spcPct val="115000"/>
                        </a:lnSpc>
                        <a:spcBef>
                          <a:spcPts val="0"/>
                        </a:spcBef>
                        <a:spcAft>
                          <a:spcPts val="0"/>
                        </a:spcAft>
                        <a:buNone/>
                      </a:pPr>
                      <a:r>
                        <a:rPr lang="en" sz="1100"/>
                        <a:t>Ridge Regression</a:t>
                      </a:r>
                      <a:endParaRPr sz="1100"/>
                    </a:p>
                  </a:txBody>
                  <a:tcPr marL="9525" marR="9525" marT="9525" marB="91425" anchor="b"/>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0.965</a:t>
                      </a:r>
                      <a:endParaRPr sz="1100">
                        <a:latin typeface="Calibri"/>
                        <a:ea typeface="Calibri"/>
                        <a:cs typeface="Calibri"/>
                        <a:sym typeface="Calibri"/>
                      </a:endParaRPr>
                    </a:p>
                  </a:txBody>
                  <a:tcPr marL="9525" marR="9525" marT="9525" marB="91425" anchor="b">
                    <a:solidFill>
                      <a:srgbClr val="B6D7A8"/>
                    </a:solidFill>
                  </a:tcPr>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0.074</a:t>
                      </a:r>
                      <a:endParaRPr sz="1100">
                        <a:latin typeface="Calibri"/>
                        <a:ea typeface="Calibri"/>
                        <a:cs typeface="Calibri"/>
                        <a:sym typeface="Calibri"/>
                      </a:endParaRPr>
                    </a:p>
                  </a:txBody>
                  <a:tcPr marL="9525" marR="9525" marT="9525" marB="91425" anchor="b">
                    <a:solidFill>
                      <a:srgbClr val="DD7E6B"/>
                    </a:solidFill>
                  </a:tcPr>
                </a:tc>
                <a:extLst>
                  <a:ext uri="{0D108BD9-81ED-4DB2-BD59-A6C34878D82A}">
                    <a16:rowId xmlns:a16="http://schemas.microsoft.com/office/drawing/2014/main" val="10002"/>
                  </a:ext>
                </a:extLst>
              </a:tr>
              <a:tr h="278450">
                <a:tc>
                  <a:txBody>
                    <a:bodyPr/>
                    <a:lstStyle/>
                    <a:p>
                      <a:pPr marL="0" lvl="0" indent="0" algn="ctr" rtl="0">
                        <a:lnSpc>
                          <a:spcPct val="115000"/>
                        </a:lnSpc>
                        <a:spcBef>
                          <a:spcPts val="0"/>
                        </a:spcBef>
                        <a:spcAft>
                          <a:spcPts val="0"/>
                        </a:spcAft>
                        <a:buNone/>
                      </a:pPr>
                      <a:r>
                        <a:rPr lang="en" sz="1100"/>
                        <a:t>Lasso Regression</a:t>
                      </a:r>
                      <a:endParaRPr sz="1100"/>
                    </a:p>
                  </a:txBody>
                  <a:tcPr marL="9525" marR="9525" marT="9525" marB="91425" anchor="b"/>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0.963</a:t>
                      </a:r>
                      <a:endParaRPr sz="1100">
                        <a:latin typeface="Calibri"/>
                        <a:ea typeface="Calibri"/>
                        <a:cs typeface="Calibri"/>
                        <a:sym typeface="Calibri"/>
                      </a:endParaRPr>
                    </a:p>
                  </a:txBody>
                  <a:tcPr marL="9525" marR="9525" marT="9525" marB="91425" anchor="b">
                    <a:solidFill>
                      <a:srgbClr val="B6D7A8"/>
                    </a:solidFill>
                  </a:tcPr>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0.079</a:t>
                      </a:r>
                      <a:endParaRPr sz="1100">
                        <a:latin typeface="Calibri"/>
                        <a:ea typeface="Calibri"/>
                        <a:cs typeface="Calibri"/>
                        <a:sym typeface="Calibri"/>
                      </a:endParaRPr>
                    </a:p>
                  </a:txBody>
                  <a:tcPr marL="9525" marR="9525" marT="9525" marB="91425" anchor="b">
                    <a:solidFill>
                      <a:srgbClr val="DD7E6B"/>
                    </a:solidFill>
                  </a:tcPr>
                </a:tc>
                <a:extLst>
                  <a:ext uri="{0D108BD9-81ED-4DB2-BD59-A6C34878D82A}">
                    <a16:rowId xmlns:a16="http://schemas.microsoft.com/office/drawing/2014/main" val="10003"/>
                  </a:ext>
                </a:extLst>
              </a:tr>
              <a:tr h="278450">
                <a:tc>
                  <a:txBody>
                    <a:bodyPr/>
                    <a:lstStyle/>
                    <a:p>
                      <a:pPr marL="0" lvl="0" indent="0" algn="ctr" rtl="0">
                        <a:lnSpc>
                          <a:spcPct val="115000"/>
                        </a:lnSpc>
                        <a:spcBef>
                          <a:spcPts val="0"/>
                        </a:spcBef>
                        <a:spcAft>
                          <a:spcPts val="0"/>
                        </a:spcAft>
                        <a:buNone/>
                      </a:pPr>
                      <a:r>
                        <a:rPr lang="en" sz="1100"/>
                        <a:t>Random Forest</a:t>
                      </a:r>
                      <a:endParaRPr sz="1100"/>
                    </a:p>
                  </a:txBody>
                  <a:tcPr marL="9525" marR="9525" marT="9525" marB="91425" anchor="b"/>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0.960</a:t>
                      </a:r>
                      <a:endParaRPr sz="1100">
                        <a:latin typeface="Calibri"/>
                        <a:ea typeface="Calibri"/>
                        <a:cs typeface="Calibri"/>
                        <a:sym typeface="Calibri"/>
                      </a:endParaRPr>
                    </a:p>
                  </a:txBody>
                  <a:tcPr marL="9525" marR="9525" marT="9525" marB="91425" anchor="b">
                    <a:solidFill>
                      <a:srgbClr val="B6D7A8"/>
                    </a:solidFill>
                  </a:tcPr>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-0.050</a:t>
                      </a:r>
                      <a:endParaRPr sz="1100">
                        <a:latin typeface="Calibri"/>
                        <a:ea typeface="Calibri"/>
                        <a:cs typeface="Calibri"/>
                        <a:sym typeface="Calibri"/>
                      </a:endParaRPr>
                    </a:p>
                  </a:txBody>
                  <a:tcPr marL="9525" marR="9525" marT="9525" marB="91425" anchor="b">
                    <a:solidFill>
                      <a:srgbClr val="DD7E6B"/>
                    </a:solidFill>
                  </a:tcPr>
                </a:tc>
                <a:extLst>
                  <a:ext uri="{0D108BD9-81ED-4DB2-BD59-A6C34878D82A}">
                    <a16:rowId xmlns:a16="http://schemas.microsoft.com/office/drawing/2014/main" val="10004"/>
                  </a:ext>
                </a:extLst>
              </a:tr>
              <a:tr h="278450">
                <a:tc>
                  <a:txBody>
                    <a:bodyPr/>
                    <a:lstStyle/>
                    <a:p>
                      <a:pPr marL="0" lvl="0" indent="0" algn="ctr" rtl="0">
                        <a:lnSpc>
                          <a:spcPct val="115000"/>
                        </a:lnSpc>
                        <a:spcBef>
                          <a:spcPts val="0"/>
                        </a:spcBef>
                        <a:spcAft>
                          <a:spcPts val="0"/>
                        </a:spcAft>
                        <a:buNone/>
                      </a:pPr>
                      <a:r>
                        <a:rPr lang="en" sz="1100"/>
                        <a:t>K Neighbors Regressor</a:t>
                      </a:r>
                      <a:endParaRPr sz="1100"/>
                    </a:p>
                  </a:txBody>
                  <a:tcPr marL="9525" marR="9525" marT="9525" marB="91425" anchor="b"/>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0.915</a:t>
                      </a:r>
                      <a:endParaRPr sz="1100">
                        <a:latin typeface="Calibri"/>
                        <a:ea typeface="Calibri"/>
                        <a:cs typeface="Calibri"/>
                        <a:sym typeface="Calibri"/>
                      </a:endParaRPr>
                    </a:p>
                  </a:txBody>
                  <a:tcPr marL="9525" marR="9525" marT="9525" marB="91425" anchor="b">
                    <a:solidFill>
                      <a:srgbClr val="B6D7A8"/>
                    </a:solidFill>
                  </a:tcPr>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-0.057</a:t>
                      </a:r>
                      <a:endParaRPr sz="1100">
                        <a:latin typeface="Calibri"/>
                        <a:ea typeface="Calibri"/>
                        <a:cs typeface="Calibri"/>
                        <a:sym typeface="Calibri"/>
                      </a:endParaRPr>
                    </a:p>
                  </a:txBody>
                  <a:tcPr marL="9525" marR="9525" marT="9525" marB="91425" anchor="b">
                    <a:solidFill>
                      <a:srgbClr val="DD7E6B"/>
                    </a:solidFill>
                  </a:tcPr>
                </a:tc>
                <a:extLst>
                  <a:ext uri="{0D108BD9-81ED-4DB2-BD59-A6C34878D82A}">
                    <a16:rowId xmlns:a16="http://schemas.microsoft.com/office/drawing/2014/main" val="10005"/>
                  </a:ext>
                </a:extLst>
              </a:tr>
              <a:tr h="278450">
                <a:tc>
                  <a:txBody>
                    <a:bodyPr/>
                    <a:lstStyle/>
                    <a:p>
                      <a:pPr marL="0" lvl="0" indent="0" algn="ctr" rtl="0">
                        <a:lnSpc>
                          <a:spcPct val="115000"/>
                        </a:lnSpc>
                        <a:spcBef>
                          <a:spcPts val="0"/>
                        </a:spcBef>
                        <a:spcAft>
                          <a:spcPts val="0"/>
                        </a:spcAft>
                        <a:buNone/>
                      </a:pPr>
                      <a:r>
                        <a:rPr lang="en" sz="1100"/>
                        <a:t>XG Boost Regressor</a:t>
                      </a:r>
                      <a:endParaRPr sz="1100"/>
                    </a:p>
                  </a:txBody>
                  <a:tcPr marL="9525" marR="9525" marT="9525" marB="91425" anchor="b"/>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0.970</a:t>
                      </a:r>
                      <a:endParaRPr sz="1100">
                        <a:latin typeface="Calibri"/>
                        <a:ea typeface="Calibri"/>
                        <a:cs typeface="Calibri"/>
                        <a:sym typeface="Calibri"/>
                      </a:endParaRPr>
                    </a:p>
                  </a:txBody>
                  <a:tcPr marL="9525" marR="9525" marT="9525" marB="91425" anchor="b">
                    <a:solidFill>
                      <a:srgbClr val="B6D7A8"/>
                    </a:solidFill>
                  </a:tcPr>
                </a:tc>
                <a:tc>
                  <a:txBody>
                    <a:bodyPr/>
                    <a:lstStyle/>
                    <a:p>
                      <a:pPr marL="0" lvl="0" indent="0" algn="ctr" rtl="0">
                        <a:lnSpc>
                          <a:spcPct val="115000"/>
                        </a:lnSpc>
                        <a:spcBef>
                          <a:spcPts val="0"/>
                        </a:spcBef>
                        <a:spcAft>
                          <a:spcPts val="0"/>
                        </a:spcAft>
                        <a:buNone/>
                      </a:pPr>
                      <a:r>
                        <a:rPr lang="en" sz="1100">
                          <a:latin typeface="Calibri"/>
                          <a:ea typeface="Calibri"/>
                          <a:cs typeface="Calibri"/>
                          <a:sym typeface="Calibri"/>
                        </a:rPr>
                        <a:t>-0.335</a:t>
                      </a:r>
                      <a:endParaRPr sz="1100">
                        <a:latin typeface="Calibri"/>
                        <a:ea typeface="Calibri"/>
                        <a:cs typeface="Calibri"/>
                        <a:sym typeface="Calibri"/>
                      </a:endParaRPr>
                    </a:p>
                  </a:txBody>
                  <a:tcPr marL="9525" marR="9525" marT="9525" marB="91425" anchor="b">
                    <a:solidFill>
                      <a:srgbClr val="DD7E6B"/>
                    </a:solidFill>
                  </a:tcPr>
                </a:tc>
                <a:extLst>
                  <a:ext uri="{0D108BD9-81ED-4DB2-BD59-A6C34878D82A}">
                    <a16:rowId xmlns:a16="http://schemas.microsoft.com/office/drawing/2014/main" val="10006"/>
                  </a:ext>
                </a:extLst>
              </a:tr>
            </a:tbl>
          </a:graphicData>
        </a:graphic>
      </p:graphicFrame>
      <p:sp>
        <p:nvSpPr>
          <p:cNvPr id="110" name="Google Shape;110;p19"/>
          <p:cNvSpPr txBox="1">
            <a:spLocks noGrp="1"/>
          </p:cNvSpPr>
          <p:nvPr>
            <p:ph type="body" idx="1"/>
          </p:nvPr>
        </p:nvSpPr>
        <p:spPr>
          <a:xfrm>
            <a:off x="5096750" y="1017725"/>
            <a:ext cx="4047300" cy="26247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770"/>
              <a:buNone/>
            </a:pPr>
            <a:r>
              <a:rPr lang="en">
                <a:solidFill>
                  <a:schemeClr val="dk1"/>
                </a:solidFill>
              </a:rPr>
              <a:t>Classification: Random Forest</a:t>
            </a:r>
            <a:endParaRPr>
              <a:solidFill>
                <a:schemeClr val="dk1"/>
              </a:solidFill>
            </a:endParaRPr>
          </a:p>
          <a:p>
            <a:pPr marL="0" lvl="0" indent="0" algn="l" rtl="0">
              <a:lnSpc>
                <a:spcPct val="80000"/>
              </a:lnSpc>
              <a:spcBef>
                <a:spcPts val="0"/>
              </a:spcBef>
              <a:spcAft>
                <a:spcPts val="0"/>
              </a:spcAft>
              <a:buSzPts val="770"/>
              <a:buNone/>
            </a:pPr>
            <a:endParaRPr>
              <a:solidFill>
                <a:schemeClr val="dk1"/>
              </a:solidFill>
            </a:endParaRPr>
          </a:p>
          <a:p>
            <a:pPr marL="457200" lvl="0" indent="-317500" algn="l" rtl="0">
              <a:lnSpc>
                <a:spcPct val="80000"/>
              </a:lnSpc>
              <a:spcBef>
                <a:spcPts val="1000"/>
              </a:spcBef>
              <a:spcAft>
                <a:spcPts val="0"/>
              </a:spcAft>
              <a:buClr>
                <a:schemeClr val="dk1"/>
              </a:buClr>
              <a:buSzPts val="1400"/>
              <a:buChar char="●"/>
            </a:pPr>
            <a:r>
              <a:rPr lang="en" sz="1400">
                <a:solidFill>
                  <a:schemeClr val="dk1"/>
                </a:solidFill>
              </a:rPr>
              <a:t>Key features: </a:t>
            </a:r>
            <a:endParaRPr sz="1400">
              <a:solidFill>
                <a:schemeClr val="dk1"/>
              </a:solidFill>
            </a:endParaRPr>
          </a:p>
          <a:p>
            <a:pPr marL="685800" lvl="0" indent="0" algn="l" rtl="0">
              <a:lnSpc>
                <a:spcPct val="95000"/>
              </a:lnSpc>
              <a:spcBef>
                <a:spcPts val="0"/>
              </a:spcBef>
              <a:spcAft>
                <a:spcPts val="0"/>
              </a:spcAft>
              <a:buSzPts val="770"/>
              <a:buNone/>
            </a:pPr>
            <a:r>
              <a:rPr lang="en" sz="1400">
                <a:solidFill>
                  <a:schemeClr val="dk1"/>
                </a:solidFill>
              </a:rPr>
              <a:t>1.       Hour</a:t>
            </a:r>
            <a:endParaRPr sz="1400">
              <a:solidFill>
                <a:schemeClr val="dk1"/>
              </a:solidFill>
            </a:endParaRPr>
          </a:p>
          <a:p>
            <a:pPr marL="685800" lvl="0" indent="0" algn="l" rtl="0">
              <a:lnSpc>
                <a:spcPct val="95000"/>
              </a:lnSpc>
              <a:spcBef>
                <a:spcPts val="0"/>
              </a:spcBef>
              <a:spcAft>
                <a:spcPts val="0"/>
              </a:spcAft>
              <a:buSzPts val="770"/>
              <a:buNone/>
            </a:pPr>
            <a:r>
              <a:rPr lang="en" sz="1400">
                <a:solidFill>
                  <a:schemeClr val="dk1"/>
                </a:solidFill>
              </a:rPr>
              <a:t>2.       Temperature</a:t>
            </a:r>
            <a:endParaRPr sz="1400">
              <a:solidFill>
                <a:schemeClr val="dk1"/>
              </a:solidFill>
            </a:endParaRPr>
          </a:p>
          <a:p>
            <a:pPr marL="685800" lvl="0" indent="0" algn="l" rtl="0">
              <a:lnSpc>
                <a:spcPct val="95000"/>
              </a:lnSpc>
              <a:spcBef>
                <a:spcPts val="0"/>
              </a:spcBef>
              <a:spcAft>
                <a:spcPts val="0"/>
              </a:spcAft>
              <a:buSzPts val="770"/>
              <a:buNone/>
            </a:pPr>
            <a:r>
              <a:rPr lang="en" sz="1400">
                <a:solidFill>
                  <a:schemeClr val="dk1"/>
                </a:solidFill>
              </a:rPr>
              <a:t>3.       Week</a:t>
            </a:r>
            <a:endParaRPr sz="1400">
              <a:solidFill>
                <a:schemeClr val="dk1"/>
              </a:solidFill>
            </a:endParaRPr>
          </a:p>
          <a:p>
            <a:pPr marL="685800" lvl="0" indent="0" algn="l" rtl="0">
              <a:lnSpc>
                <a:spcPct val="95000"/>
              </a:lnSpc>
              <a:spcBef>
                <a:spcPts val="0"/>
              </a:spcBef>
              <a:spcAft>
                <a:spcPts val="0"/>
              </a:spcAft>
              <a:buSzPts val="770"/>
              <a:buNone/>
            </a:pPr>
            <a:r>
              <a:rPr lang="en" sz="1400">
                <a:solidFill>
                  <a:schemeClr val="dk1"/>
                </a:solidFill>
              </a:rPr>
              <a:t>4.       Day</a:t>
            </a:r>
            <a:endParaRPr sz="1400">
              <a:solidFill>
                <a:schemeClr val="dk1"/>
              </a:solidFill>
            </a:endParaRPr>
          </a:p>
          <a:p>
            <a:pPr marL="685800" lvl="0" indent="0" algn="l" rtl="0">
              <a:lnSpc>
                <a:spcPct val="95000"/>
              </a:lnSpc>
              <a:spcBef>
                <a:spcPts val="0"/>
              </a:spcBef>
              <a:spcAft>
                <a:spcPts val="0"/>
              </a:spcAft>
              <a:buSzPts val="770"/>
              <a:buNone/>
            </a:pPr>
            <a:r>
              <a:rPr lang="en" sz="1400">
                <a:solidFill>
                  <a:schemeClr val="dk1"/>
                </a:solidFill>
              </a:rPr>
              <a:t>5.       Month</a:t>
            </a:r>
            <a:endParaRPr sz="1400">
              <a:solidFill>
                <a:schemeClr val="dk1"/>
              </a:solidFill>
            </a:endParaRPr>
          </a:p>
          <a:p>
            <a:pPr marL="457200" lvl="0" indent="-317500" algn="l" rtl="0">
              <a:lnSpc>
                <a:spcPct val="80000"/>
              </a:lnSpc>
              <a:spcBef>
                <a:spcPts val="1000"/>
              </a:spcBef>
              <a:spcAft>
                <a:spcPts val="0"/>
              </a:spcAft>
              <a:buClr>
                <a:schemeClr val="dk1"/>
              </a:buClr>
              <a:buSzPts val="1400"/>
              <a:buChar char="●"/>
            </a:pPr>
            <a:r>
              <a:rPr lang="en" sz="1400">
                <a:solidFill>
                  <a:schemeClr val="dk1"/>
                </a:solidFill>
              </a:rPr>
              <a:t>Overall model accuracy = 0.82</a:t>
            </a:r>
            <a:endParaRPr sz="1400">
              <a:solidFill>
                <a:schemeClr val="dk1"/>
              </a:solidFill>
            </a:endParaRPr>
          </a:p>
          <a:p>
            <a:pPr marL="0" lvl="0" indent="0" algn="l" rtl="0">
              <a:lnSpc>
                <a:spcPct val="80000"/>
              </a:lnSpc>
              <a:spcBef>
                <a:spcPts val="0"/>
              </a:spcBef>
              <a:spcAft>
                <a:spcPts val="0"/>
              </a:spcAft>
              <a:buSzPts val="770"/>
              <a:buNone/>
            </a:pPr>
            <a:endParaRPr>
              <a:solidFill>
                <a:schemeClr val="dk1"/>
              </a:solidFill>
            </a:endParaRPr>
          </a:p>
          <a:p>
            <a:pPr marL="457200" lvl="0" indent="0" algn="l" rtl="0">
              <a:lnSpc>
                <a:spcPct val="80000"/>
              </a:lnSpc>
              <a:spcBef>
                <a:spcPts val="0"/>
              </a:spcBef>
              <a:spcAft>
                <a:spcPts val="0"/>
              </a:spcAft>
              <a:buSzPts val="770"/>
              <a:buNone/>
            </a:pPr>
            <a:endParaRPr>
              <a:solidFill>
                <a:schemeClr val="dk1"/>
              </a:solidFill>
            </a:endParaRPr>
          </a:p>
        </p:txBody>
      </p:sp>
      <p:pic>
        <p:nvPicPr>
          <p:cNvPr id="111" name="Google Shape;111;p19"/>
          <p:cNvPicPr preferRelativeResize="0"/>
          <p:nvPr/>
        </p:nvPicPr>
        <p:blipFill>
          <a:blip r:embed="rId3">
            <a:alphaModFix/>
          </a:blip>
          <a:stretch>
            <a:fillRect/>
          </a:stretch>
        </p:blipFill>
        <p:spPr>
          <a:xfrm>
            <a:off x="5222537" y="3531100"/>
            <a:ext cx="3795725" cy="836475"/>
          </a:xfrm>
          <a:prstGeom prst="rect">
            <a:avLst/>
          </a:prstGeom>
          <a:noFill/>
          <a:ln>
            <a:noFill/>
          </a:ln>
        </p:spPr>
      </p:pic>
      <p:sp>
        <p:nvSpPr>
          <p:cNvPr id="112" name="Google Shape;112;p19"/>
          <p:cNvSpPr txBox="1">
            <a:spLocks noGrp="1"/>
          </p:cNvSpPr>
          <p:nvPr>
            <p:ph type="body" idx="1"/>
          </p:nvPr>
        </p:nvSpPr>
        <p:spPr>
          <a:xfrm>
            <a:off x="178350" y="962400"/>
            <a:ext cx="4629300" cy="18951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a:solidFill>
                  <a:schemeClr val="dk1"/>
                </a:solidFill>
              </a:rPr>
              <a:t>Regression</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457200" lvl="0" indent="-317500" algn="l" rtl="0">
              <a:lnSpc>
                <a:spcPct val="100000"/>
              </a:lnSpc>
              <a:spcBef>
                <a:spcPts val="0"/>
              </a:spcBef>
              <a:spcAft>
                <a:spcPts val="0"/>
              </a:spcAft>
              <a:buClr>
                <a:schemeClr val="dk1"/>
              </a:buClr>
              <a:buSzPts val="1400"/>
              <a:buChar char="●"/>
            </a:pPr>
            <a:r>
              <a:rPr lang="en" sz="1400">
                <a:solidFill>
                  <a:schemeClr val="dk1"/>
                </a:solidFill>
              </a:rPr>
              <a:t>Early analysis showed (‘Min_Gap’) consistently correlated with ‘Min Delay’, which is expected because it depends on ‘Min Delay”</a:t>
            </a:r>
            <a:endParaRPr sz="1400">
              <a:solidFill>
                <a:schemeClr val="dk1"/>
              </a:solidFill>
            </a:endParaRPr>
          </a:p>
          <a:p>
            <a:pPr marL="457200" lvl="0" indent="-317500" algn="l" rtl="0">
              <a:lnSpc>
                <a:spcPct val="100000"/>
              </a:lnSpc>
              <a:spcBef>
                <a:spcPts val="0"/>
              </a:spcBef>
              <a:spcAft>
                <a:spcPts val="0"/>
              </a:spcAft>
              <a:buClr>
                <a:schemeClr val="dk1"/>
              </a:buClr>
              <a:buSzPts val="1400"/>
              <a:buChar char="●"/>
            </a:pPr>
            <a:r>
              <a:rPr lang="en" sz="1400">
                <a:solidFill>
                  <a:schemeClr val="dk1"/>
                </a:solidFill>
              </a:rPr>
              <a:t>Weak correlations when ‘Min_Gap’ is excluded.</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266081" y="296764"/>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220"/>
              <a:t>Recommendations to TTC:</a:t>
            </a:r>
            <a:endParaRPr sz="3220"/>
          </a:p>
        </p:txBody>
      </p:sp>
      <p:sp>
        <p:nvSpPr>
          <p:cNvPr id="118" name="Google Shape;118;p20"/>
          <p:cNvSpPr txBox="1">
            <a:spLocks noGrp="1"/>
          </p:cNvSpPr>
          <p:nvPr>
            <p:ph type="body" idx="1"/>
          </p:nvPr>
        </p:nvSpPr>
        <p:spPr>
          <a:xfrm>
            <a:off x="155335" y="1340084"/>
            <a:ext cx="4567200" cy="30495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AutoNum type="arabicPeriod"/>
            </a:pPr>
            <a:r>
              <a:rPr lang="en">
                <a:solidFill>
                  <a:schemeClr val="dk1"/>
                </a:solidFill>
              </a:rPr>
              <a:t>Standardize the way location data is collected.</a:t>
            </a:r>
            <a:endParaRPr>
              <a:solidFill>
                <a:schemeClr val="dk1"/>
              </a:solidFill>
            </a:endParaRPr>
          </a:p>
          <a:p>
            <a:pPr marL="457200" lvl="0" indent="-342900" algn="l" rtl="0">
              <a:spcBef>
                <a:spcPts val="0"/>
              </a:spcBef>
              <a:spcAft>
                <a:spcPts val="0"/>
              </a:spcAft>
              <a:buClr>
                <a:schemeClr val="dk1"/>
              </a:buClr>
              <a:buSzPts val="1800"/>
              <a:buAutoNum type="arabicPeriod"/>
            </a:pPr>
            <a:r>
              <a:rPr lang="en">
                <a:solidFill>
                  <a:schemeClr val="dk1"/>
                </a:solidFill>
              </a:rPr>
              <a:t>Potential to make a large impact with few resources by focusing on high-incident locations and lines.</a:t>
            </a:r>
            <a:endParaRPr>
              <a:solidFill>
                <a:schemeClr val="dk1"/>
              </a:solidFill>
            </a:endParaRPr>
          </a:p>
          <a:p>
            <a:pPr marL="457200" lvl="0" indent="-342900" algn="l" rtl="0">
              <a:lnSpc>
                <a:spcPct val="100000"/>
              </a:lnSpc>
              <a:spcBef>
                <a:spcPts val="0"/>
              </a:spcBef>
              <a:spcAft>
                <a:spcPts val="0"/>
              </a:spcAft>
              <a:buClr>
                <a:schemeClr val="dk1"/>
              </a:buClr>
              <a:buSzPts val="1800"/>
              <a:buAutoNum type="arabicPeriod"/>
            </a:pPr>
            <a:r>
              <a:rPr lang="en">
                <a:solidFill>
                  <a:schemeClr val="dk1"/>
                </a:solidFill>
              </a:rPr>
              <a:t>The 3 highest frequency of incidents are in categories that are largely within the TTC’s control (operations, mechanical &amp; diversions).</a:t>
            </a:r>
            <a:endParaRPr>
              <a:solidFill>
                <a:schemeClr val="dk1"/>
              </a:solidFill>
            </a:endParaRPr>
          </a:p>
        </p:txBody>
      </p:sp>
      <p:pic>
        <p:nvPicPr>
          <p:cNvPr id="119" name="Google Shape;119;p20" descr="TTC Service Changes Effective January 7, 2024 | Steve Munro"/>
          <p:cNvPicPr preferRelativeResize="0"/>
          <p:nvPr/>
        </p:nvPicPr>
        <p:blipFill rotWithShape="1">
          <a:blip r:embed="rId3">
            <a:alphaModFix/>
          </a:blip>
          <a:srcRect t="16212"/>
          <a:stretch/>
        </p:blipFill>
        <p:spPr>
          <a:xfrm>
            <a:off x="4748123" y="1498823"/>
            <a:ext cx="4258826" cy="25270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body" idx="1"/>
          </p:nvPr>
        </p:nvSpPr>
        <p:spPr>
          <a:xfrm>
            <a:off x="311700" y="1809750"/>
            <a:ext cx="8520600" cy="1524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sz="6000"/>
              <a:t>END</a:t>
            </a:r>
            <a:endParaRPr sz="6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818</Words>
  <Application>Microsoft Office PowerPoint</Application>
  <PresentationFormat>On-screen Show (16:9)</PresentationFormat>
  <Paragraphs>122</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Simple Light</vt:lpstr>
      <vt:lpstr>Analyzing TTC Streetcar  Delays in 2024</vt:lpstr>
      <vt:lpstr>Rationale and Goals for the Project</vt:lpstr>
      <vt:lpstr>Findings from Exploratory Analyses </vt:lpstr>
      <vt:lpstr>Certain Locations Were “Delay Hotspots” </vt:lpstr>
      <vt:lpstr>Some lines and times of day were more prone to delays</vt:lpstr>
      <vt:lpstr>Certain types of incidents created more frequent and longer delays</vt:lpstr>
      <vt:lpstr>Model Methods and Results</vt:lpstr>
      <vt:lpstr>Recommendations to TTC: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Natasha Mathew</cp:lastModifiedBy>
  <cp:revision>1</cp:revision>
  <dcterms:modified xsi:type="dcterms:W3CDTF">2025-11-15T17:22:07Z</dcterms:modified>
</cp:coreProperties>
</file>